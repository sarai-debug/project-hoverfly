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autoCompressPictures="0">
  <p:sldMasterIdLst>
    <p:sldMasterId id="2147483648" r:id="rId1"/>
  </p:sldMasterIdLst>
  <p:notesMasterIdLst>
    <p:notesMasterId r:id="rId18"/>
  </p:notesMasterIdLst>
  <p:sldIdLst>
    <p:sldId id="256" r:id="rId2"/>
    <p:sldId id="272" r:id="rId3"/>
    <p:sldId id="260" r:id="rId4"/>
    <p:sldId id="261" r:id="rId5"/>
    <p:sldId id="258" r:id="rId6"/>
    <p:sldId id="262" r:id="rId7"/>
    <p:sldId id="270" r:id="rId8"/>
    <p:sldId id="269" r:id="rId9"/>
    <p:sldId id="259" r:id="rId10"/>
    <p:sldId id="263" r:id="rId11"/>
    <p:sldId id="264" r:id="rId12"/>
    <p:sldId id="265" r:id="rId13"/>
    <p:sldId id="266" r:id="rId14"/>
    <p:sldId id="267" r:id="rId15"/>
    <p:sldId id="268" r:id="rId16"/>
    <p:sldId id="271" r:id="rId17"/>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769"/>
    <a:srgbClr val="EB5A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6877B6-05F5-9A43-BBD9-3938A656B1F2}" v="4518" dt="2025-10-29T21:49:10.761"/>
    <p1510:client id="{E881C030-DEB3-4D99-AD0B-3C94E56C5324}" v="1457" dt="2025-10-30T07:52:54.2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25CF96-62E1-5F4A-B7A2-AAC9AF138DD1}" type="datetimeFigureOut">
              <a:rPr lang="de-CH" smtClean="0"/>
              <a:t>30.10.2025</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75C1DD-CDF9-D145-ACF3-FE450020F061}" type="slidenum">
              <a:rPr lang="de-CH" smtClean="0"/>
              <a:t>‹#›</a:t>
            </a:fld>
            <a:endParaRPr lang="de-CH"/>
          </a:p>
        </p:txBody>
      </p:sp>
    </p:spTree>
    <p:extLst>
      <p:ext uri="{BB962C8B-B14F-4D97-AF65-F5344CB8AC3E}">
        <p14:creationId xmlns:p14="http://schemas.microsoft.com/office/powerpoint/2010/main" val="618577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Climate change is driving more frequent temperature extremes, threatening population persistence. Insects, as ectotherms, are highly sensitive to thermal stress  especially during developmental stages.</a:t>
            </a:r>
          </a:p>
          <a:p>
            <a:endParaRPr lang="en-US" dirty="0"/>
          </a:p>
          <a:p>
            <a:r>
              <a:rPr lang="en-US" b="0" dirty="0"/>
              <a:t>Evolutionary rescue occurs when beneficial mutations spread fast enough to prevent extinction.</a:t>
            </a:r>
          </a:p>
          <a:p>
            <a:endParaRPr lang="en-US" dirty="0"/>
          </a:p>
          <a:p>
            <a:r>
              <a:rPr lang="en-US" dirty="0"/>
              <a:t>Understanding how </a:t>
            </a:r>
            <a:r>
              <a:rPr lang="en-US" b="0" dirty="0"/>
              <a:t>life-stage-specific mutations </a:t>
            </a:r>
            <a:r>
              <a:rPr lang="en-US" dirty="0"/>
              <a:t>(e.g., in egg hatching or adult fecundity) influence rescue is key to predicting survival under temperature stress.</a:t>
            </a:r>
            <a:endParaRPr lang="en-US" b="0" dirty="0"/>
          </a:p>
          <a:p>
            <a:endParaRPr lang="en-US" b="0" dirty="0"/>
          </a:p>
          <a:p>
            <a:endParaRPr lang="en-CH" dirty="0"/>
          </a:p>
        </p:txBody>
      </p:sp>
      <p:sp>
        <p:nvSpPr>
          <p:cNvPr id="4" name="Slide Number Placeholder 3"/>
          <p:cNvSpPr>
            <a:spLocks noGrp="1"/>
          </p:cNvSpPr>
          <p:nvPr>
            <p:ph type="sldNum" sz="quarter" idx="5"/>
          </p:nvPr>
        </p:nvSpPr>
        <p:spPr/>
        <p:txBody>
          <a:bodyPr/>
          <a:lstStyle/>
          <a:p>
            <a:fld id="{3D75C1DD-CDF9-D145-ACF3-FE450020F061}" type="slidenum">
              <a:rPr lang="de-CH" smtClean="0"/>
              <a:t>1</a:t>
            </a:fld>
            <a:endParaRPr lang="de-CH"/>
          </a:p>
        </p:txBody>
      </p:sp>
    </p:spTree>
    <p:extLst>
      <p:ext uri="{BB962C8B-B14F-4D97-AF65-F5344CB8AC3E}">
        <p14:creationId xmlns:p14="http://schemas.microsoft.com/office/powerpoint/2010/main" val="25139086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dirty="0"/>
              <a:t>Add Values, </a:t>
            </a:r>
          </a:p>
          <a:p>
            <a:r>
              <a:rPr lang="de-CH" dirty="0"/>
              <a:t>Haploid </a:t>
            </a:r>
          </a:p>
        </p:txBody>
      </p:sp>
      <p:sp>
        <p:nvSpPr>
          <p:cNvPr id="4" name="Foliennummernplatzhalter 3"/>
          <p:cNvSpPr>
            <a:spLocks noGrp="1"/>
          </p:cNvSpPr>
          <p:nvPr>
            <p:ph type="sldNum" sz="quarter" idx="5"/>
          </p:nvPr>
        </p:nvSpPr>
        <p:spPr/>
        <p:txBody>
          <a:bodyPr/>
          <a:lstStyle/>
          <a:p>
            <a:fld id="{3D75C1DD-CDF9-D145-ACF3-FE450020F061}" type="slidenum">
              <a:rPr lang="de-CH" smtClean="0"/>
              <a:t>4</a:t>
            </a:fld>
            <a:endParaRPr lang="de-CH"/>
          </a:p>
        </p:txBody>
      </p:sp>
    </p:spTree>
    <p:extLst>
      <p:ext uri="{BB962C8B-B14F-4D97-AF65-F5344CB8AC3E}">
        <p14:creationId xmlns:p14="http://schemas.microsoft.com/office/powerpoint/2010/main" val="3691951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err="1"/>
              <a:t>Only</a:t>
            </a:r>
            <a:r>
              <a:rPr lang="de-CH"/>
              <a:t> </a:t>
            </a:r>
            <a:r>
              <a:rPr lang="de-CH" err="1"/>
              <a:t>one</a:t>
            </a:r>
            <a:r>
              <a:rPr lang="de-CH"/>
              <a:t> </a:t>
            </a:r>
            <a:r>
              <a:rPr lang="de-CH" err="1"/>
              <a:t>death</a:t>
            </a:r>
            <a:r>
              <a:rPr lang="de-CH"/>
              <a:t> </a:t>
            </a:r>
          </a:p>
        </p:txBody>
      </p:sp>
      <p:sp>
        <p:nvSpPr>
          <p:cNvPr id="4" name="Foliennummernplatzhalter 3"/>
          <p:cNvSpPr>
            <a:spLocks noGrp="1"/>
          </p:cNvSpPr>
          <p:nvPr>
            <p:ph type="sldNum" sz="quarter" idx="5"/>
          </p:nvPr>
        </p:nvSpPr>
        <p:spPr/>
        <p:txBody>
          <a:bodyPr/>
          <a:lstStyle/>
          <a:p>
            <a:fld id="{3D75C1DD-CDF9-D145-ACF3-FE450020F061}" type="slidenum">
              <a:rPr lang="de-CH" smtClean="0"/>
              <a:t>5</a:t>
            </a:fld>
            <a:endParaRPr lang="de-CH"/>
          </a:p>
        </p:txBody>
      </p:sp>
    </p:spTree>
    <p:extLst>
      <p:ext uri="{BB962C8B-B14F-4D97-AF65-F5344CB8AC3E}">
        <p14:creationId xmlns:p14="http://schemas.microsoft.com/office/powerpoint/2010/main" val="1117694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a:t>Here you can see multiple rounds of our model with the same parameters, you can see that every round is different than the other and that rescue is not always guaranteed with these parameters</a:t>
            </a:r>
          </a:p>
          <a:p>
            <a:endParaRPr lang="de-CH"/>
          </a:p>
          <a:p>
            <a:r>
              <a:rPr lang="de-CH"/>
              <a:t>And rescue, as you can see here is often provided by the mutant genotype</a:t>
            </a:r>
          </a:p>
          <a:p>
            <a:endParaRPr lang="de-CH"/>
          </a:p>
          <a:p>
            <a:r>
              <a:rPr lang="de-CH"/>
              <a:t>These many versions of the same model are due to stochasticity, which in our model is even stronger, because to calculate  our two life stages we </a:t>
            </a:r>
            <a:r>
              <a:rPr lang="de-CH" err="1"/>
              <a:t>take</a:t>
            </a:r>
            <a:r>
              <a:rPr lang="de-CH"/>
              <a:t> </a:t>
            </a:r>
            <a:r>
              <a:rPr lang="de-CH" err="1"/>
              <a:t>values</a:t>
            </a:r>
            <a:r>
              <a:rPr lang="de-CH"/>
              <a:t> </a:t>
            </a:r>
            <a:r>
              <a:rPr lang="de-CH" err="1"/>
              <a:t>from</a:t>
            </a:r>
            <a:r>
              <a:rPr lang="de-CH"/>
              <a:t> </a:t>
            </a:r>
            <a:r>
              <a:rPr lang="de-CH" err="1"/>
              <a:t>poisson</a:t>
            </a:r>
            <a:r>
              <a:rPr lang="de-CH"/>
              <a:t> and </a:t>
            </a:r>
            <a:r>
              <a:rPr lang="de-CH" err="1"/>
              <a:t>binomial</a:t>
            </a:r>
            <a:r>
              <a:rPr lang="de-CH"/>
              <a:t> </a:t>
            </a:r>
            <a:r>
              <a:rPr lang="de-CH" err="1"/>
              <a:t>distributions</a:t>
            </a:r>
            <a:endParaRPr lang="de-CH"/>
          </a:p>
          <a:p>
            <a:endParaRPr lang="de-CH"/>
          </a:p>
        </p:txBody>
      </p:sp>
      <p:sp>
        <p:nvSpPr>
          <p:cNvPr id="4" name="Foliennummernplatzhalter 3"/>
          <p:cNvSpPr>
            <a:spLocks noGrp="1"/>
          </p:cNvSpPr>
          <p:nvPr>
            <p:ph type="sldNum" sz="quarter" idx="5"/>
          </p:nvPr>
        </p:nvSpPr>
        <p:spPr/>
        <p:txBody>
          <a:bodyPr/>
          <a:lstStyle/>
          <a:p>
            <a:fld id="{3D75C1DD-CDF9-D145-ACF3-FE450020F061}" type="slidenum">
              <a:rPr lang="de-CH" smtClean="0"/>
              <a:t>6</a:t>
            </a:fld>
            <a:endParaRPr lang="de-CH"/>
          </a:p>
        </p:txBody>
      </p:sp>
    </p:spTree>
    <p:extLst>
      <p:ext uri="{BB962C8B-B14F-4D97-AF65-F5344CB8AC3E}">
        <p14:creationId xmlns:p14="http://schemas.microsoft.com/office/powerpoint/2010/main" val="42840944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err="1"/>
              <a:t>Firstly</a:t>
            </a:r>
            <a:r>
              <a:rPr lang="de-CH"/>
              <a:t> </a:t>
            </a:r>
            <a:r>
              <a:rPr lang="de-CH" err="1"/>
              <a:t>we</a:t>
            </a:r>
            <a:r>
              <a:rPr lang="de-CH"/>
              <a:t> </a:t>
            </a:r>
            <a:r>
              <a:rPr lang="de-CH" err="1"/>
              <a:t>studied</a:t>
            </a:r>
            <a:r>
              <a:rPr lang="de-CH"/>
              <a:t> </a:t>
            </a:r>
            <a:r>
              <a:rPr lang="de-CH" err="1"/>
              <a:t>how</a:t>
            </a:r>
            <a:r>
              <a:rPr lang="de-CH"/>
              <a:t> </a:t>
            </a:r>
            <a:r>
              <a:rPr lang="de-CH" err="1"/>
              <a:t>the</a:t>
            </a:r>
            <a:r>
              <a:rPr lang="de-CH"/>
              <a:t> </a:t>
            </a:r>
            <a:r>
              <a:rPr lang="de-CH" err="1"/>
              <a:t>mutation</a:t>
            </a:r>
            <a:r>
              <a:rPr lang="de-CH"/>
              <a:t> rate </a:t>
            </a:r>
            <a:r>
              <a:rPr lang="de-CH" err="1"/>
              <a:t>affects</a:t>
            </a:r>
            <a:r>
              <a:rPr lang="de-CH"/>
              <a:t> </a:t>
            </a:r>
            <a:r>
              <a:rPr lang="de-CH" err="1"/>
              <a:t>the</a:t>
            </a:r>
            <a:r>
              <a:rPr lang="de-CH"/>
              <a:t> </a:t>
            </a:r>
            <a:r>
              <a:rPr lang="de-CH" err="1"/>
              <a:t>rescue</a:t>
            </a:r>
            <a:r>
              <a:rPr lang="de-CH"/>
              <a:t> </a:t>
            </a:r>
            <a:r>
              <a:rPr lang="de-CH" err="1"/>
              <a:t>probability</a:t>
            </a:r>
            <a:r>
              <a:rPr lang="de-CH"/>
              <a:t> in </a:t>
            </a:r>
            <a:r>
              <a:rPr lang="de-CH" err="1"/>
              <a:t>our</a:t>
            </a:r>
            <a:r>
              <a:rPr lang="de-CH"/>
              <a:t> </a:t>
            </a:r>
            <a:r>
              <a:rPr lang="de-CH" err="1"/>
              <a:t>model</a:t>
            </a:r>
            <a:r>
              <a:rPr lang="de-CH"/>
              <a:t> and </a:t>
            </a:r>
            <a:r>
              <a:rPr lang="de-CH" err="1"/>
              <a:t>we</a:t>
            </a:r>
            <a:r>
              <a:rPr lang="de-CH"/>
              <a:t> </a:t>
            </a:r>
            <a:r>
              <a:rPr lang="de-CH" err="1"/>
              <a:t>found</a:t>
            </a:r>
            <a:r>
              <a:rPr lang="de-CH"/>
              <a:t> </a:t>
            </a:r>
            <a:r>
              <a:rPr lang="de-CH" err="1"/>
              <a:t>that</a:t>
            </a:r>
            <a:r>
              <a:rPr lang="de-CH"/>
              <a:t> </a:t>
            </a:r>
            <a:r>
              <a:rPr lang="de-CH" err="1"/>
              <a:t>mutation</a:t>
            </a:r>
            <a:r>
              <a:rPr lang="de-CH"/>
              <a:t> rate </a:t>
            </a:r>
            <a:r>
              <a:rPr lang="de-CH" err="1"/>
              <a:t>doesn’t</a:t>
            </a:r>
            <a:r>
              <a:rPr lang="de-CH"/>
              <a:t> </a:t>
            </a:r>
            <a:r>
              <a:rPr lang="de-CH" err="1"/>
              <a:t>seem</a:t>
            </a:r>
            <a:r>
              <a:rPr lang="de-CH"/>
              <a:t> </a:t>
            </a:r>
            <a:r>
              <a:rPr lang="de-CH" err="1"/>
              <a:t>to</a:t>
            </a:r>
            <a:r>
              <a:rPr lang="de-CH"/>
              <a:t> </a:t>
            </a:r>
            <a:r>
              <a:rPr lang="de-CH" err="1"/>
              <a:t>have</a:t>
            </a:r>
            <a:r>
              <a:rPr lang="de-CH"/>
              <a:t> an </a:t>
            </a:r>
            <a:r>
              <a:rPr lang="de-CH" err="1"/>
              <a:t>effect</a:t>
            </a:r>
            <a:r>
              <a:rPr lang="de-CH"/>
              <a:t> on </a:t>
            </a:r>
            <a:r>
              <a:rPr lang="de-CH" err="1"/>
              <a:t>the</a:t>
            </a:r>
            <a:r>
              <a:rPr lang="de-CH"/>
              <a:t> </a:t>
            </a:r>
            <a:r>
              <a:rPr lang="de-CH" err="1"/>
              <a:t>probability</a:t>
            </a:r>
            <a:r>
              <a:rPr lang="de-CH"/>
              <a:t> </a:t>
            </a:r>
            <a:r>
              <a:rPr lang="de-CH" err="1"/>
              <a:t>of</a:t>
            </a:r>
            <a:r>
              <a:rPr lang="de-CH"/>
              <a:t> </a:t>
            </a:r>
            <a:r>
              <a:rPr lang="de-CH" err="1"/>
              <a:t>rescue</a:t>
            </a:r>
            <a:r>
              <a:rPr lang="de-CH"/>
              <a:t> </a:t>
            </a:r>
            <a:r>
              <a:rPr lang="de-CH" err="1"/>
              <a:t>of</a:t>
            </a:r>
            <a:r>
              <a:rPr lang="de-CH"/>
              <a:t> </a:t>
            </a:r>
            <a:r>
              <a:rPr lang="de-CH" err="1"/>
              <a:t>the</a:t>
            </a:r>
            <a:r>
              <a:rPr lang="de-CH"/>
              <a:t> </a:t>
            </a:r>
            <a:r>
              <a:rPr lang="de-CH" err="1"/>
              <a:t>population</a:t>
            </a:r>
            <a:endParaRPr lang="de-CH"/>
          </a:p>
        </p:txBody>
      </p:sp>
      <p:sp>
        <p:nvSpPr>
          <p:cNvPr id="4" name="Foliennummernplatzhalter 3"/>
          <p:cNvSpPr>
            <a:spLocks noGrp="1"/>
          </p:cNvSpPr>
          <p:nvPr>
            <p:ph type="sldNum" sz="quarter" idx="5"/>
          </p:nvPr>
        </p:nvSpPr>
        <p:spPr/>
        <p:txBody>
          <a:bodyPr/>
          <a:lstStyle/>
          <a:p>
            <a:fld id="{3D75C1DD-CDF9-D145-ACF3-FE450020F061}" type="slidenum">
              <a:rPr lang="de-CH" smtClean="0"/>
              <a:t>7</a:t>
            </a:fld>
            <a:endParaRPr lang="de-CH"/>
          </a:p>
        </p:txBody>
      </p:sp>
    </p:spTree>
    <p:extLst>
      <p:ext uri="{BB962C8B-B14F-4D97-AF65-F5344CB8AC3E}">
        <p14:creationId xmlns:p14="http://schemas.microsoft.com/office/powerpoint/2010/main" val="14459062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171450" indent="-171450">
              <a:buFont typeface="Wingdings" pitchFamily="2" charset="2"/>
              <a:buChar char="è"/>
            </a:pPr>
            <a:r>
              <a:rPr lang="de-CH"/>
              <a:t>With </a:t>
            </a:r>
            <a:r>
              <a:rPr lang="de-CH" err="1"/>
              <a:t>this</a:t>
            </a:r>
            <a:r>
              <a:rPr lang="de-CH"/>
              <a:t> </a:t>
            </a:r>
            <a:r>
              <a:rPr lang="de-CH" err="1"/>
              <a:t>set</a:t>
            </a:r>
            <a:r>
              <a:rPr lang="de-CH"/>
              <a:t> </a:t>
            </a:r>
            <a:r>
              <a:rPr lang="de-CH" err="1"/>
              <a:t>of</a:t>
            </a:r>
            <a:r>
              <a:rPr lang="de-CH"/>
              <a:t> </a:t>
            </a:r>
            <a:r>
              <a:rPr lang="de-CH" err="1"/>
              <a:t>parameters</a:t>
            </a:r>
            <a:r>
              <a:rPr lang="de-CH"/>
              <a:t> </a:t>
            </a:r>
            <a:r>
              <a:rPr lang="de-CH" err="1"/>
              <a:t>we</a:t>
            </a:r>
            <a:r>
              <a:rPr lang="de-CH"/>
              <a:t> </a:t>
            </a:r>
            <a:r>
              <a:rPr lang="de-CH" err="1"/>
              <a:t>can</a:t>
            </a:r>
            <a:r>
              <a:rPr lang="de-CH"/>
              <a:t> </a:t>
            </a:r>
            <a:r>
              <a:rPr lang="de-CH" err="1"/>
              <a:t>see</a:t>
            </a:r>
            <a:r>
              <a:rPr lang="de-CH"/>
              <a:t> </a:t>
            </a:r>
            <a:r>
              <a:rPr lang="de-CH" err="1"/>
              <a:t>that</a:t>
            </a:r>
            <a:r>
              <a:rPr lang="de-CH"/>
              <a:t> </a:t>
            </a:r>
            <a:r>
              <a:rPr lang="de-CH" err="1"/>
              <a:t>when</a:t>
            </a:r>
            <a:r>
              <a:rPr lang="de-CH"/>
              <a:t> </a:t>
            </a:r>
            <a:r>
              <a:rPr lang="de-CH" err="1"/>
              <a:t>mutant</a:t>
            </a:r>
            <a:r>
              <a:rPr lang="de-CH"/>
              <a:t> adult </a:t>
            </a:r>
            <a:r>
              <a:rPr lang="de-CH" err="1"/>
              <a:t>frequency</a:t>
            </a:r>
            <a:r>
              <a:rPr lang="de-CH"/>
              <a:t> </a:t>
            </a:r>
            <a:r>
              <a:rPr lang="de-CH" err="1"/>
              <a:t>the</a:t>
            </a:r>
            <a:r>
              <a:rPr lang="de-CH"/>
              <a:t> </a:t>
            </a:r>
            <a:r>
              <a:rPr lang="de-CH" err="1"/>
              <a:t>threshold</a:t>
            </a:r>
            <a:r>
              <a:rPr lang="de-CH"/>
              <a:t> </a:t>
            </a:r>
            <a:r>
              <a:rPr lang="de-CH" err="1"/>
              <a:t>of</a:t>
            </a:r>
            <a:r>
              <a:rPr lang="de-CH"/>
              <a:t> 2.5 </a:t>
            </a:r>
            <a:r>
              <a:rPr lang="de-CH" err="1"/>
              <a:t>reaches</a:t>
            </a:r>
            <a:r>
              <a:rPr lang="de-CH"/>
              <a:t> </a:t>
            </a:r>
            <a:r>
              <a:rPr lang="de-CH" err="1"/>
              <a:t>the</a:t>
            </a:r>
            <a:r>
              <a:rPr lang="de-CH"/>
              <a:t> </a:t>
            </a:r>
            <a:r>
              <a:rPr lang="de-CH" err="1"/>
              <a:t>rescue</a:t>
            </a:r>
            <a:r>
              <a:rPr lang="de-CH"/>
              <a:t> </a:t>
            </a:r>
            <a:r>
              <a:rPr lang="de-CH" err="1"/>
              <a:t>probability</a:t>
            </a:r>
            <a:r>
              <a:rPr lang="de-CH"/>
              <a:t> </a:t>
            </a:r>
            <a:r>
              <a:rPr lang="de-CH" err="1"/>
              <a:t>goes</a:t>
            </a:r>
            <a:r>
              <a:rPr lang="de-CH"/>
              <a:t> </a:t>
            </a:r>
            <a:r>
              <a:rPr lang="de-CH" err="1"/>
              <a:t>up</a:t>
            </a:r>
            <a:r>
              <a:rPr lang="de-CH"/>
              <a:t> </a:t>
            </a:r>
            <a:r>
              <a:rPr lang="de-CH" err="1"/>
              <a:t>to</a:t>
            </a:r>
            <a:r>
              <a:rPr lang="de-CH"/>
              <a:t> a 100%</a:t>
            </a:r>
          </a:p>
          <a:p>
            <a:pPr marL="171450" indent="-171450">
              <a:buFont typeface="Wingdings" pitchFamily="2" charset="2"/>
              <a:buChar char="è"/>
            </a:pPr>
            <a:r>
              <a:rPr lang="de-CH" err="1"/>
              <a:t>We</a:t>
            </a:r>
            <a:r>
              <a:rPr lang="de-CH"/>
              <a:t> </a:t>
            </a:r>
            <a:r>
              <a:rPr lang="de-CH" err="1"/>
              <a:t>computed</a:t>
            </a:r>
            <a:r>
              <a:rPr lang="de-CH"/>
              <a:t> </a:t>
            </a:r>
            <a:r>
              <a:rPr lang="de-CH" err="1"/>
              <a:t>the</a:t>
            </a:r>
            <a:r>
              <a:rPr lang="de-CH"/>
              <a:t> same </a:t>
            </a:r>
            <a:r>
              <a:rPr lang="de-CH" err="1"/>
              <a:t>for</a:t>
            </a:r>
            <a:r>
              <a:rPr lang="de-CH"/>
              <a:t> </a:t>
            </a:r>
            <a:r>
              <a:rPr lang="de-CH" err="1"/>
              <a:t>the</a:t>
            </a:r>
            <a:r>
              <a:rPr lang="de-CH"/>
              <a:t> </a:t>
            </a:r>
            <a:r>
              <a:rPr lang="de-CH" err="1"/>
              <a:t>wildtype</a:t>
            </a:r>
            <a:r>
              <a:rPr lang="de-CH"/>
              <a:t> </a:t>
            </a:r>
            <a:r>
              <a:rPr lang="de-CH" err="1"/>
              <a:t>hatching</a:t>
            </a:r>
            <a:r>
              <a:rPr lang="de-CH"/>
              <a:t> rate </a:t>
            </a:r>
            <a:r>
              <a:rPr lang="de-CH" err="1"/>
              <a:t>for</a:t>
            </a:r>
            <a:r>
              <a:rPr lang="de-CH"/>
              <a:t> </a:t>
            </a:r>
            <a:r>
              <a:rPr lang="de-CH" err="1"/>
              <a:t>which</a:t>
            </a:r>
            <a:r>
              <a:rPr lang="de-CH"/>
              <a:t> </a:t>
            </a:r>
            <a:r>
              <a:rPr lang="de-CH" err="1"/>
              <a:t>the</a:t>
            </a:r>
            <a:r>
              <a:rPr lang="de-CH"/>
              <a:t> same </a:t>
            </a:r>
            <a:r>
              <a:rPr lang="de-CH" err="1"/>
              <a:t>happens</a:t>
            </a:r>
            <a:r>
              <a:rPr lang="de-CH"/>
              <a:t> </a:t>
            </a:r>
            <a:r>
              <a:rPr lang="de-CH" err="1"/>
              <a:t>from</a:t>
            </a:r>
            <a:r>
              <a:rPr lang="de-CH"/>
              <a:t> 0.6, </a:t>
            </a:r>
            <a:r>
              <a:rPr lang="de-CH" err="1"/>
              <a:t>above</a:t>
            </a:r>
            <a:r>
              <a:rPr lang="de-CH"/>
              <a:t> </a:t>
            </a:r>
            <a:r>
              <a:rPr lang="de-CH" err="1"/>
              <a:t>that</a:t>
            </a:r>
            <a:r>
              <a:rPr lang="de-CH"/>
              <a:t> </a:t>
            </a:r>
            <a:r>
              <a:rPr lang="de-CH" err="1"/>
              <a:t>value</a:t>
            </a:r>
            <a:r>
              <a:rPr lang="de-CH"/>
              <a:t>, </a:t>
            </a:r>
            <a:r>
              <a:rPr lang="de-CH" err="1"/>
              <a:t>rescue</a:t>
            </a:r>
            <a:r>
              <a:rPr lang="de-CH"/>
              <a:t> </a:t>
            </a:r>
            <a:r>
              <a:rPr lang="de-CH" err="1"/>
              <a:t>is</a:t>
            </a:r>
            <a:r>
              <a:rPr lang="de-CH"/>
              <a:t> </a:t>
            </a:r>
            <a:r>
              <a:rPr lang="de-CH" err="1"/>
              <a:t>guaranteed</a:t>
            </a:r>
            <a:r>
              <a:rPr lang="de-CH"/>
              <a:t> </a:t>
            </a:r>
          </a:p>
        </p:txBody>
      </p:sp>
      <p:sp>
        <p:nvSpPr>
          <p:cNvPr id="4" name="Foliennummernplatzhalter 3"/>
          <p:cNvSpPr>
            <a:spLocks noGrp="1"/>
          </p:cNvSpPr>
          <p:nvPr>
            <p:ph type="sldNum" sz="quarter" idx="5"/>
          </p:nvPr>
        </p:nvSpPr>
        <p:spPr/>
        <p:txBody>
          <a:bodyPr/>
          <a:lstStyle/>
          <a:p>
            <a:fld id="{3D75C1DD-CDF9-D145-ACF3-FE450020F061}" type="slidenum">
              <a:rPr lang="de-CH" smtClean="0"/>
              <a:t>8</a:t>
            </a:fld>
            <a:endParaRPr lang="de-CH"/>
          </a:p>
        </p:txBody>
      </p:sp>
    </p:spTree>
    <p:extLst>
      <p:ext uri="{BB962C8B-B14F-4D97-AF65-F5344CB8AC3E}">
        <p14:creationId xmlns:p14="http://schemas.microsoft.com/office/powerpoint/2010/main" val="42315270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a:t>3D </a:t>
            </a:r>
            <a:r>
              <a:rPr lang="de-CH" err="1"/>
              <a:t>heatmap</a:t>
            </a:r>
            <a:endParaRPr lang="de-CH"/>
          </a:p>
          <a:p>
            <a:r>
              <a:rPr lang="de-CH"/>
              <a:t>Here </a:t>
            </a:r>
            <a:r>
              <a:rPr lang="de-CH" err="1"/>
              <a:t>we</a:t>
            </a:r>
            <a:r>
              <a:rPr lang="de-CH"/>
              <a:t> </a:t>
            </a:r>
            <a:r>
              <a:rPr lang="de-CH" err="1"/>
              <a:t>can</a:t>
            </a:r>
            <a:r>
              <a:rPr lang="de-CH"/>
              <a:t> </a:t>
            </a:r>
            <a:r>
              <a:rPr lang="de-CH" err="1"/>
              <a:t>see</a:t>
            </a:r>
            <a:r>
              <a:rPr lang="de-CH"/>
              <a:t> </a:t>
            </a:r>
            <a:r>
              <a:rPr lang="de-CH" err="1"/>
              <a:t>that</a:t>
            </a:r>
            <a:r>
              <a:rPr lang="de-CH"/>
              <a:t> </a:t>
            </a:r>
            <a:r>
              <a:rPr lang="de-CH" err="1"/>
              <a:t>mutant</a:t>
            </a:r>
            <a:r>
              <a:rPr lang="de-CH"/>
              <a:t> </a:t>
            </a:r>
            <a:r>
              <a:rPr lang="de-CH" err="1"/>
              <a:t>fecundity</a:t>
            </a:r>
            <a:r>
              <a:rPr lang="de-CH"/>
              <a:t> and </a:t>
            </a:r>
            <a:r>
              <a:rPr lang="de-CH" err="1"/>
              <a:t>hatching</a:t>
            </a:r>
            <a:r>
              <a:rPr lang="de-CH"/>
              <a:t> rate </a:t>
            </a:r>
            <a:r>
              <a:rPr lang="de-CH" err="1"/>
              <a:t>dependant</a:t>
            </a:r>
            <a:r>
              <a:rPr lang="de-CH"/>
              <a:t> </a:t>
            </a:r>
            <a:r>
              <a:rPr lang="de-CH" err="1"/>
              <a:t>are</a:t>
            </a:r>
            <a:r>
              <a:rPr lang="de-CH"/>
              <a:t> </a:t>
            </a:r>
            <a:r>
              <a:rPr lang="de-CH" err="1"/>
              <a:t>from</a:t>
            </a:r>
            <a:r>
              <a:rPr lang="de-CH"/>
              <a:t> </a:t>
            </a:r>
            <a:r>
              <a:rPr lang="de-CH" err="1"/>
              <a:t>each</a:t>
            </a:r>
            <a:r>
              <a:rPr lang="de-CH"/>
              <a:t> </a:t>
            </a:r>
            <a:r>
              <a:rPr lang="de-CH" err="1"/>
              <a:t>other</a:t>
            </a:r>
            <a:endParaRPr lang="de-CH"/>
          </a:p>
          <a:p>
            <a:r>
              <a:rPr lang="de-CH"/>
              <a:t>The </a:t>
            </a:r>
            <a:r>
              <a:rPr lang="de-CH" err="1"/>
              <a:t>fecundity</a:t>
            </a:r>
            <a:r>
              <a:rPr lang="de-CH"/>
              <a:t> </a:t>
            </a:r>
            <a:r>
              <a:rPr lang="de-CH" err="1"/>
              <a:t>can</a:t>
            </a:r>
            <a:r>
              <a:rPr lang="de-CH"/>
              <a:t> </a:t>
            </a:r>
            <a:r>
              <a:rPr lang="de-CH" err="1"/>
              <a:t>be</a:t>
            </a:r>
            <a:r>
              <a:rPr lang="de-CH"/>
              <a:t> </a:t>
            </a:r>
            <a:r>
              <a:rPr lang="de-CH" err="1"/>
              <a:t>very</a:t>
            </a:r>
            <a:r>
              <a:rPr lang="de-CH"/>
              <a:t> high , but </a:t>
            </a:r>
            <a:r>
              <a:rPr lang="de-CH" err="1"/>
              <a:t>this</a:t>
            </a:r>
            <a:r>
              <a:rPr lang="de-CH"/>
              <a:t> </a:t>
            </a:r>
            <a:r>
              <a:rPr lang="de-CH" err="1"/>
              <a:t>doesn’t</a:t>
            </a:r>
            <a:r>
              <a:rPr lang="de-CH"/>
              <a:t> </a:t>
            </a:r>
            <a:r>
              <a:rPr lang="de-CH" err="1"/>
              <a:t>affect</a:t>
            </a:r>
            <a:r>
              <a:rPr lang="de-CH"/>
              <a:t> </a:t>
            </a:r>
            <a:r>
              <a:rPr lang="de-CH" err="1"/>
              <a:t>rescue</a:t>
            </a:r>
            <a:r>
              <a:rPr lang="de-CH"/>
              <a:t> </a:t>
            </a:r>
            <a:r>
              <a:rPr lang="de-CH" err="1"/>
              <a:t>probability</a:t>
            </a:r>
            <a:r>
              <a:rPr lang="de-CH"/>
              <a:t> </a:t>
            </a:r>
            <a:r>
              <a:rPr lang="de-CH" err="1"/>
              <a:t>if</a:t>
            </a:r>
            <a:r>
              <a:rPr lang="de-CH"/>
              <a:t> </a:t>
            </a:r>
            <a:r>
              <a:rPr lang="de-CH" err="1"/>
              <a:t>the</a:t>
            </a:r>
            <a:r>
              <a:rPr lang="de-CH"/>
              <a:t> </a:t>
            </a:r>
            <a:r>
              <a:rPr lang="de-CH" err="1"/>
              <a:t>hatching</a:t>
            </a:r>
            <a:r>
              <a:rPr lang="de-CH"/>
              <a:t> rate </a:t>
            </a:r>
            <a:r>
              <a:rPr lang="de-CH" err="1"/>
              <a:t>is</a:t>
            </a:r>
            <a:r>
              <a:rPr lang="de-CH"/>
              <a:t> also </a:t>
            </a:r>
            <a:r>
              <a:rPr lang="de-CH" err="1"/>
              <a:t>low</a:t>
            </a:r>
            <a:r>
              <a:rPr lang="de-CH"/>
              <a:t>, </a:t>
            </a:r>
            <a:r>
              <a:rPr lang="de-CH" err="1"/>
              <a:t>which</a:t>
            </a:r>
            <a:r>
              <a:rPr lang="de-CH"/>
              <a:t> also </a:t>
            </a:r>
            <a:r>
              <a:rPr lang="de-CH" err="1"/>
              <a:t>makes</a:t>
            </a:r>
            <a:r>
              <a:rPr lang="de-CH"/>
              <a:t> a </a:t>
            </a:r>
            <a:r>
              <a:rPr lang="de-CH" err="1"/>
              <a:t>lot</a:t>
            </a:r>
            <a:r>
              <a:rPr lang="de-CH"/>
              <a:t> </a:t>
            </a:r>
            <a:r>
              <a:rPr lang="de-CH" err="1"/>
              <a:t>of</a:t>
            </a:r>
            <a:r>
              <a:rPr lang="de-CH"/>
              <a:t> </a:t>
            </a:r>
            <a:r>
              <a:rPr lang="de-CH" err="1"/>
              <a:t>biological</a:t>
            </a:r>
            <a:r>
              <a:rPr lang="de-CH"/>
              <a:t> sense</a:t>
            </a:r>
          </a:p>
          <a:p>
            <a:r>
              <a:rPr lang="de-CH"/>
              <a:t>The same </a:t>
            </a:r>
            <a:r>
              <a:rPr lang="de-CH" err="1"/>
              <a:t>for</a:t>
            </a:r>
            <a:r>
              <a:rPr lang="de-CH"/>
              <a:t> </a:t>
            </a:r>
            <a:r>
              <a:rPr lang="de-CH" err="1"/>
              <a:t>hatching</a:t>
            </a:r>
            <a:r>
              <a:rPr lang="de-CH"/>
              <a:t> rate, </a:t>
            </a:r>
            <a:r>
              <a:rPr lang="de-CH" err="1"/>
              <a:t>doesn’t</a:t>
            </a:r>
            <a:r>
              <a:rPr lang="de-CH"/>
              <a:t> matter </a:t>
            </a:r>
            <a:r>
              <a:rPr lang="de-CH" err="1"/>
              <a:t>how</a:t>
            </a:r>
            <a:r>
              <a:rPr lang="de-CH"/>
              <a:t> high </a:t>
            </a:r>
            <a:r>
              <a:rPr lang="de-CH" err="1"/>
              <a:t>it</a:t>
            </a:r>
            <a:r>
              <a:rPr lang="de-CH"/>
              <a:t> </a:t>
            </a:r>
            <a:r>
              <a:rPr lang="de-CH" err="1"/>
              <a:t>is</a:t>
            </a:r>
            <a:r>
              <a:rPr lang="de-CH"/>
              <a:t>, </a:t>
            </a:r>
            <a:r>
              <a:rPr lang="de-CH" err="1"/>
              <a:t>some</a:t>
            </a:r>
            <a:r>
              <a:rPr lang="de-CH"/>
              <a:t> </a:t>
            </a:r>
            <a:r>
              <a:rPr lang="de-CH" err="1"/>
              <a:t>fecundity</a:t>
            </a:r>
            <a:r>
              <a:rPr lang="de-CH"/>
              <a:t> </a:t>
            </a:r>
            <a:r>
              <a:rPr lang="de-CH" err="1"/>
              <a:t>is</a:t>
            </a:r>
            <a:r>
              <a:rPr lang="de-CH"/>
              <a:t> </a:t>
            </a:r>
            <a:r>
              <a:rPr lang="de-CH" err="1"/>
              <a:t>needed</a:t>
            </a:r>
            <a:r>
              <a:rPr lang="de-CH"/>
              <a:t> </a:t>
            </a:r>
            <a:r>
              <a:rPr lang="de-CH" err="1"/>
              <a:t>for</a:t>
            </a:r>
            <a:r>
              <a:rPr lang="de-CH"/>
              <a:t> </a:t>
            </a:r>
            <a:r>
              <a:rPr lang="de-CH" err="1"/>
              <a:t>population</a:t>
            </a:r>
            <a:r>
              <a:rPr lang="de-CH"/>
              <a:t> </a:t>
            </a:r>
            <a:r>
              <a:rPr lang="de-CH" err="1"/>
              <a:t>rescue</a:t>
            </a:r>
            <a:endParaRPr lang="de-CH"/>
          </a:p>
        </p:txBody>
      </p:sp>
      <p:sp>
        <p:nvSpPr>
          <p:cNvPr id="4" name="Foliennummernplatzhalter 3"/>
          <p:cNvSpPr>
            <a:spLocks noGrp="1"/>
          </p:cNvSpPr>
          <p:nvPr>
            <p:ph type="sldNum" sz="quarter" idx="5"/>
          </p:nvPr>
        </p:nvSpPr>
        <p:spPr/>
        <p:txBody>
          <a:bodyPr/>
          <a:lstStyle/>
          <a:p>
            <a:fld id="{3D75C1DD-CDF9-D145-ACF3-FE450020F061}" type="slidenum">
              <a:rPr lang="de-CH" smtClean="0"/>
              <a:t>9</a:t>
            </a:fld>
            <a:endParaRPr lang="de-CH"/>
          </a:p>
        </p:txBody>
      </p:sp>
    </p:spTree>
    <p:extLst>
      <p:ext uri="{BB962C8B-B14F-4D97-AF65-F5344CB8AC3E}">
        <p14:creationId xmlns:p14="http://schemas.microsoft.com/office/powerpoint/2010/main" val="1767444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a:t>Here </a:t>
            </a:r>
            <a:r>
              <a:rPr lang="de-CH" err="1"/>
              <a:t>we</a:t>
            </a:r>
            <a:r>
              <a:rPr lang="de-CH"/>
              <a:t> </a:t>
            </a:r>
            <a:r>
              <a:rPr lang="de-CH" err="1"/>
              <a:t>can</a:t>
            </a:r>
            <a:r>
              <a:rPr lang="de-CH"/>
              <a:t> </a:t>
            </a:r>
            <a:r>
              <a:rPr lang="de-CH" err="1"/>
              <a:t>again</a:t>
            </a:r>
            <a:r>
              <a:rPr lang="de-CH"/>
              <a:t> </a:t>
            </a:r>
            <a:r>
              <a:rPr lang="de-CH" err="1"/>
              <a:t>see</a:t>
            </a:r>
            <a:r>
              <a:rPr lang="de-CH"/>
              <a:t> </a:t>
            </a:r>
            <a:r>
              <a:rPr lang="de-CH" err="1"/>
              <a:t>codependence</a:t>
            </a:r>
            <a:r>
              <a:rPr lang="de-CH"/>
              <a:t> </a:t>
            </a:r>
            <a:r>
              <a:rPr lang="de-CH" err="1"/>
              <a:t>of</a:t>
            </a:r>
            <a:r>
              <a:rPr lang="de-CH"/>
              <a:t> </a:t>
            </a:r>
            <a:r>
              <a:rPr lang="de-CH" err="1"/>
              <a:t>the</a:t>
            </a:r>
            <a:r>
              <a:rPr lang="de-CH"/>
              <a:t> </a:t>
            </a:r>
            <a:r>
              <a:rPr lang="de-CH" err="1"/>
              <a:t>fitness</a:t>
            </a:r>
            <a:r>
              <a:rPr lang="de-CH"/>
              <a:t> </a:t>
            </a:r>
            <a:r>
              <a:rPr lang="de-CH" err="1"/>
              <a:t>parameters</a:t>
            </a:r>
            <a:endParaRPr lang="de-CH"/>
          </a:p>
          <a:p>
            <a:endParaRPr lang="de-CH"/>
          </a:p>
          <a:p>
            <a:r>
              <a:rPr lang="de-CH"/>
              <a:t>Here </a:t>
            </a:r>
            <a:r>
              <a:rPr lang="de-CH" err="1"/>
              <a:t>we</a:t>
            </a:r>
            <a:r>
              <a:rPr lang="de-CH"/>
              <a:t> </a:t>
            </a:r>
            <a:r>
              <a:rPr lang="de-CH" err="1"/>
              <a:t>look</a:t>
            </a:r>
            <a:r>
              <a:rPr lang="de-CH"/>
              <a:t> at </a:t>
            </a:r>
            <a:r>
              <a:rPr lang="de-CH" err="1"/>
              <a:t>both</a:t>
            </a:r>
            <a:r>
              <a:rPr lang="de-CH"/>
              <a:t> </a:t>
            </a:r>
            <a:r>
              <a:rPr lang="de-CH" err="1"/>
              <a:t>fecundities</a:t>
            </a:r>
            <a:r>
              <a:rPr lang="de-CH"/>
              <a:t>, </a:t>
            </a:r>
            <a:r>
              <a:rPr lang="de-CH" err="1"/>
              <a:t>we</a:t>
            </a:r>
            <a:r>
              <a:rPr lang="de-CH"/>
              <a:t> </a:t>
            </a:r>
            <a:r>
              <a:rPr lang="de-CH" err="1"/>
              <a:t>see</a:t>
            </a:r>
            <a:r>
              <a:rPr lang="de-CH"/>
              <a:t> </a:t>
            </a:r>
            <a:r>
              <a:rPr lang="de-CH" err="1"/>
              <a:t>asymmetry</a:t>
            </a:r>
            <a:r>
              <a:rPr lang="de-CH"/>
              <a:t>, </a:t>
            </a:r>
            <a:r>
              <a:rPr lang="de-CH" err="1"/>
              <a:t>that’s</a:t>
            </a:r>
            <a:r>
              <a:rPr lang="de-CH"/>
              <a:t> </a:t>
            </a:r>
            <a:r>
              <a:rPr lang="de-CH" err="1"/>
              <a:t>because</a:t>
            </a:r>
            <a:r>
              <a:rPr lang="de-CH"/>
              <a:t>, </a:t>
            </a:r>
            <a:r>
              <a:rPr lang="de-CH" err="1"/>
              <a:t>since</a:t>
            </a:r>
            <a:r>
              <a:rPr lang="de-CH"/>
              <a:t> all </a:t>
            </a:r>
            <a:r>
              <a:rPr lang="de-CH" err="1"/>
              <a:t>other</a:t>
            </a:r>
            <a:r>
              <a:rPr lang="de-CH"/>
              <a:t> </a:t>
            </a:r>
            <a:r>
              <a:rPr lang="de-CH" err="1"/>
              <a:t>parameters</a:t>
            </a:r>
            <a:r>
              <a:rPr lang="de-CH"/>
              <a:t> </a:t>
            </a:r>
            <a:r>
              <a:rPr lang="de-CH" err="1"/>
              <a:t>for</a:t>
            </a:r>
            <a:r>
              <a:rPr lang="de-CH"/>
              <a:t> </a:t>
            </a:r>
            <a:r>
              <a:rPr lang="de-CH" err="1"/>
              <a:t>the</a:t>
            </a:r>
            <a:r>
              <a:rPr lang="de-CH"/>
              <a:t> </a:t>
            </a:r>
            <a:r>
              <a:rPr lang="de-CH" err="1"/>
              <a:t>mutant</a:t>
            </a:r>
            <a:r>
              <a:rPr lang="de-CH"/>
              <a:t> </a:t>
            </a:r>
            <a:r>
              <a:rPr lang="de-CH" err="1"/>
              <a:t>fitness</a:t>
            </a:r>
            <a:r>
              <a:rPr lang="de-CH"/>
              <a:t> </a:t>
            </a:r>
            <a:r>
              <a:rPr lang="de-CH" err="1"/>
              <a:t>are</a:t>
            </a:r>
            <a:r>
              <a:rPr lang="de-CH"/>
              <a:t> </a:t>
            </a:r>
            <a:r>
              <a:rPr lang="de-CH" err="1"/>
              <a:t>higher</a:t>
            </a:r>
            <a:r>
              <a:rPr lang="de-CH"/>
              <a:t>, </a:t>
            </a:r>
            <a:r>
              <a:rPr lang="de-CH" err="1"/>
              <a:t>already</a:t>
            </a:r>
            <a:r>
              <a:rPr lang="de-CH"/>
              <a:t> </a:t>
            </a:r>
            <a:r>
              <a:rPr lang="de-CH" err="1"/>
              <a:t>lower</a:t>
            </a:r>
            <a:r>
              <a:rPr lang="de-CH"/>
              <a:t> </a:t>
            </a:r>
            <a:r>
              <a:rPr lang="de-CH" err="1"/>
              <a:t>levels</a:t>
            </a:r>
            <a:r>
              <a:rPr lang="de-CH"/>
              <a:t> </a:t>
            </a:r>
            <a:r>
              <a:rPr lang="de-CH" err="1"/>
              <a:t>of</a:t>
            </a:r>
            <a:r>
              <a:rPr lang="de-CH"/>
              <a:t> </a:t>
            </a:r>
            <a:r>
              <a:rPr lang="de-CH" err="1"/>
              <a:t>fecundity</a:t>
            </a:r>
            <a:r>
              <a:rPr lang="de-CH"/>
              <a:t> </a:t>
            </a:r>
            <a:r>
              <a:rPr lang="de-CH" err="1"/>
              <a:t>would</a:t>
            </a:r>
            <a:r>
              <a:rPr lang="de-CH"/>
              <a:t> </a:t>
            </a:r>
            <a:r>
              <a:rPr lang="de-CH" err="1"/>
              <a:t>rescue</a:t>
            </a:r>
            <a:r>
              <a:rPr lang="de-CH"/>
              <a:t> </a:t>
            </a:r>
            <a:r>
              <a:rPr lang="de-CH" err="1"/>
              <a:t>the</a:t>
            </a:r>
            <a:r>
              <a:rPr lang="de-CH"/>
              <a:t> </a:t>
            </a:r>
            <a:r>
              <a:rPr lang="de-CH" err="1"/>
              <a:t>population</a:t>
            </a:r>
            <a:endParaRPr lang="de-CH"/>
          </a:p>
          <a:p>
            <a:endParaRPr lang="de-CH"/>
          </a:p>
          <a:p>
            <a:r>
              <a:rPr lang="de-CH" err="1"/>
              <a:t>For</a:t>
            </a:r>
            <a:r>
              <a:rPr lang="de-CH"/>
              <a:t> </a:t>
            </a:r>
            <a:r>
              <a:rPr lang="de-CH" err="1"/>
              <a:t>the</a:t>
            </a:r>
            <a:r>
              <a:rPr lang="de-CH"/>
              <a:t> </a:t>
            </a:r>
            <a:r>
              <a:rPr lang="de-CH" err="1"/>
              <a:t>wildtype</a:t>
            </a:r>
            <a:r>
              <a:rPr lang="de-CH"/>
              <a:t> </a:t>
            </a:r>
            <a:r>
              <a:rPr lang="de-CH" err="1"/>
              <a:t>genotype</a:t>
            </a:r>
            <a:r>
              <a:rPr lang="de-CH"/>
              <a:t> </a:t>
            </a:r>
            <a:r>
              <a:rPr lang="de-CH" err="1"/>
              <a:t>to</a:t>
            </a:r>
            <a:r>
              <a:rPr lang="de-CH"/>
              <a:t> save </a:t>
            </a:r>
            <a:r>
              <a:rPr lang="de-CH" err="1"/>
              <a:t>the</a:t>
            </a:r>
            <a:r>
              <a:rPr lang="de-CH"/>
              <a:t> </a:t>
            </a:r>
            <a:r>
              <a:rPr lang="de-CH" err="1"/>
              <a:t>population</a:t>
            </a:r>
            <a:r>
              <a:rPr lang="de-CH"/>
              <a:t> </a:t>
            </a:r>
            <a:r>
              <a:rPr lang="de-CH" err="1"/>
              <a:t>it</a:t>
            </a:r>
            <a:r>
              <a:rPr lang="de-CH"/>
              <a:t> </a:t>
            </a:r>
            <a:r>
              <a:rPr lang="de-CH" err="1"/>
              <a:t>would</a:t>
            </a:r>
            <a:r>
              <a:rPr lang="de-CH"/>
              <a:t> </a:t>
            </a:r>
            <a:r>
              <a:rPr lang="de-CH" err="1"/>
              <a:t>take</a:t>
            </a:r>
            <a:r>
              <a:rPr lang="de-CH"/>
              <a:t> a </a:t>
            </a:r>
            <a:r>
              <a:rPr lang="de-CH" err="1"/>
              <a:t>higher</a:t>
            </a:r>
            <a:r>
              <a:rPr lang="de-CH"/>
              <a:t> </a:t>
            </a:r>
            <a:r>
              <a:rPr lang="de-CH" err="1"/>
              <a:t>fecundity</a:t>
            </a:r>
            <a:r>
              <a:rPr lang="de-CH"/>
              <a:t> rate </a:t>
            </a:r>
            <a:r>
              <a:rPr lang="de-CH" err="1"/>
              <a:t>with</a:t>
            </a:r>
            <a:r>
              <a:rPr lang="de-CH"/>
              <a:t> </a:t>
            </a:r>
            <a:r>
              <a:rPr lang="de-CH" err="1"/>
              <a:t>these</a:t>
            </a:r>
            <a:r>
              <a:rPr lang="de-CH"/>
              <a:t> </a:t>
            </a:r>
            <a:r>
              <a:rPr lang="de-CH" err="1"/>
              <a:t>other</a:t>
            </a:r>
            <a:r>
              <a:rPr lang="de-CH"/>
              <a:t> </a:t>
            </a:r>
            <a:r>
              <a:rPr lang="de-CH" err="1"/>
              <a:t>parameters</a:t>
            </a:r>
            <a:endParaRPr lang="de-CH"/>
          </a:p>
        </p:txBody>
      </p:sp>
      <p:sp>
        <p:nvSpPr>
          <p:cNvPr id="4" name="Foliennummernplatzhalter 3"/>
          <p:cNvSpPr>
            <a:spLocks noGrp="1"/>
          </p:cNvSpPr>
          <p:nvPr>
            <p:ph type="sldNum" sz="quarter" idx="5"/>
          </p:nvPr>
        </p:nvSpPr>
        <p:spPr/>
        <p:txBody>
          <a:bodyPr/>
          <a:lstStyle/>
          <a:p>
            <a:fld id="{3D75C1DD-CDF9-D145-ACF3-FE450020F061}" type="slidenum">
              <a:rPr lang="de-CH" smtClean="0"/>
              <a:t>10</a:t>
            </a:fld>
            <a:endParaRPr lang="de-CH"/>
          </a:p>
        </p:txBody>
      </p:sp>
    </p:spTree>
    <p:extLst>
      <p:ext uri="{BB962C8B-B14F-4D97-AF65-F5344CB8AC3E}">
        <p14:creationId xmlns:p14="http://schemas.microsoft.com/office/powerpoint/2010/main" val="690148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Population survival under stress hinges on egg hatching success and adult fecundity traits directly shaping recovery potential.</a:t>
            </a:r>
          </a:p>
          <a:p>
            <a:r>
              <a:rPr lang="en-US" b="0"/>
              <a:t>rare beneficial mutations (e.g., improving hatching or reproduction)</a:t>
            </a:r>
          </a:p>
          <a:p>
            <a:endParaRPr lang="en-CH" b="0"/>
          </a:p>
        </p:txBody>
      </p:sp>
      <p:sp>
        <p:nvSpPr>
          <p:cNvPr id="4" name="Slide Number Placeholder 3"/>
          <p:cNvSpPr>
            <a:spLocks noGrp="1"/>
          </p:cNvSpPr>
          <p:nvPr>
            <p:ph type="sldNum" sz="quarter" idx="5"/>
          </p:nvPr>
        </p:nvSpPr>
        <p:spPr/>
        <p:txBody>
          <a:bodyPr/>
          <a:lstStyle/>
          <a:p>
            <a:fld id="{3D75C1DD-CDF9-D145-ACF3-FE450020F061}" type="slidenum">
              <a:rPr lang="de-CH" smtClean="0"/>
              <a:t>11</a:t>
            </a:fld>
            <a:endParaRPr lang="de-CH"/>
          </a:p>
        </p:txBody>
      </p:sp>
    </p:spTree>
    <p:extLst>
      <p:ext uri="{BB962C8B-B14F-4D97-AF65-F5344CB8AC3E}">
        <p14:creationId xmlns:p14="http://schemas.microsoft.com/office/powerpoint/2010/main" val="3015076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doesn’t capture real environmental fluctuations or extreme heat events.</a:t>
            </a:r>
          </a:p>
          <a:p>
            <a:r>
              <a:rPr lang="en-US"/>
              <a:t>(egg → larva → pupa → adult) to capture full life-cycle effects.</a:t>
            </a:r>
          </a:p>
          <a:p>
            <a:r>
              <a:rPr lang="en-US"/>
              <a:t>reflect climate variability.</a:t>
            </a:r>
          </a:p>
          <a:p>
            <a:r>
              <a:rPr lang="en-US"/>
              <a:t>(multiple loci or mutation types) to better reflect real evolutionary potential.</a:t>
            </a:r>
            <a:endParaRPr lang="en-CH"/>
          </a:p>
        </p:txBody>
      </p:sp>
      <p:sp>
        <p:nvSpPr>
          <p:cNvPr id="4" name="Slide Number Placeholder 3"/>
          <p:cNvSpPr>
            <a:spLocks noGrp="1"/>
          </p:cNvSpPr>
          <p:nvPr>
            <p:ph type="sldNum" sz="quarter" idx="5"/>
          </p:nvPr>
        </p:nvSpPr>
        <p:spPr/>
        <p:txBody>
          <a:bodyPr/>
          <a:lstStyle/>
          <a:p>
            <a:fld id="{3D75C1DD-CDF9-D145-ACF3-FE450020F061}" type="slidenum">
              <a:rPr lang="de-CH" smtClean="0"/>
              <a:t>12</a:t>
            </a:fld>
            <a:endParaRPr lang="de-CH"/>
          </a:p>
        </p:txBody>
      </p:sp>
    </p:spTree>
    <p:extLst>
      <p:ext uri="{BB962C8B-B14F-4D97-AF65-F5344CB8AC3E}">
        <p14:creationId xmlns:p14="http://schemas.microsoft.com/office/powerpoint/2010/main" val="5722504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simulations show that even rare beneficial mutations can allow a population to recover under stress, but the strength of that mutation’s advantage matters more than how often it arises. Since hatching and fecundity determine success, this model helps us understand how life stages contribute to population persistence, and similar models could guide conservation strategies under climate change.</a:t>
            </a:r>
            <a:endParaRPr lang="en-CH"/>
          </a:p>
        </p:txBody>
      </p:sp>
      <p:sp>
        <p:nvSpPr>
          <p:cNvPr id="4" name="Slide Number Placeholder 3"/>
          <p:cNvSpPr>
            <a:spLocks noGrp="1"/>
          </p:cNvSpPr>
          <p:nvPr>
            <p:ph type="sldNum" sz="quarter" idx="5"/>
          </p:nvPr>
        </p:nvSpPr>
        <p:spPr/>
        <p:txBody>
          <a:bodyPr/>
          <a:lstStyle/>
          <a:p>
            <a:fld id="{3D75C1DD-CDF9-D145-ACF3-FE450020F061}" type="slidenum">
              <a:rPr lang="de-CH" smtClean="0"/>
              <a:t>13</a:t>
            </a:fld>
            <a:endParaRPr lang="de-CH"/>
          </a:p>
        </p:txBody>
      </p:sp>
    </p:spTree>
    <p:extLst>
      <p:ext uri="{BB962C8B-B14F-4D97-AF65-F5344CB8AC3E}">
        <p14:creationId xmlns:p14="http://schemas.microsoft.com/office/powerpoint/2010/main" val="1990877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484821-B1B0-E5C3-B32A-6ECE56CC7564}"/>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de-CH"/>
          </a:p>
        </p:txBody>
      </p:sp>
      <p:sp>
        <p:nvSpPr>
          <p:cNvPr id="3" name="Untertitel 2">
            <a:extLst>
              <a:ext uri="{FF2B5EF4-FFF2-40B4-BE49-F238E27FC236}">
                <a16:creationId xmlns:a16="http://schemas.microsoft.com/office/drawing/2014/main" id="{D9EDAEF2-ECB8-CC43-B8B8-F982198B8D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de-CH"/>
          </a:p>
        </p:txBody>
      </p:sp>
      <p:sp>
        <p:nvSpPr>
          <p:cNvPr id="4" name="Datumsplatzhalter 3">
            <a:extLst>
              <a:ext uri="{FF2B5EF4-FFF2-40B4-BE49-F238E27FC236}">
                <a16:creationId xmlns:a16="http://schemas.microsoft.com/office/drawing/2014/main" id="{77DB3180-5711-BA1A-F2E5-E8331FCD125B}"/>
              </a:ext>
            </a:extLst>
          </p:cNvPr>
          <p:cNvSpPr>
            <a:spLocks noGrp="1"/>
          </p:cNvSpPr>
          <p:nvPr>
            <p:ph type="dt" sz="half" idx="10"/>
          </p:nvPr>
        </p:nvSpPr>
        <p:spPr/>
        <p:txBody>
          <a:bodyPr/>
          <a:lstStyle/>
          <a:p>
            <a:fld id="{BB733DE9-CF07-A24C-BEE2-191A8880ED6F}" type="datetime1">
              <a:rPr lang="de-CH" smtClean="0"/>
              <a:t>30.10.2025</a:t>
            </a:fld>
            <a:endParaRPr lang="de-CH"/>
          </a:p>
        </p:txBody>
      </p:sp>
      <p:sp>
        <p:nvSpPr>
          <p:cNvPr id="5" name="Fußzeilenplatzhalter 4">
            <a:extLst>
              <a:ext uri="{FF2B5EF4-FFF2-40B4-BE49-F238E27FC236}">
                <a16:creationId xmlns:a16="http://schemas.microsoft.com/office/drawing/2014/main" id="{CC93144A-946F-C770-1CF1-BA7593AE3099}"/>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8A8DAE18-FCFB-0DF7-2C3D-D0E7DA284944}"/>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326953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ADC2CB-26EF-9F12-FAA5-CBDE169A008F}"/>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95C880BD-4076-F645-389E-EA3434E9F5FB}"/>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10543124-4127-4FF5-F771-89E6A3E42CD7}"/>
              </a:ext>
            </a:extLst>
          </p:cNvPr>
          <p:cNvSpPr>
            <a:spLocks noGrp="1"/>
          </p:cNvSpPr>
          <p:nvPr>
            <p:ph type="dt" sz="half" idx="10"/>
          </p:nvPr>
        </p:nvSpPr>
        <p:spPr/>
        <p:txBody>
          <a:bodyPr/>
          <a:lstStyle/>
          <a:p>
            <a:fld id="{E772A79F-AEB5-5549-B2ED-276ECCEC66E9}" type="datetime1">
              <a:rPr lang="de-CH" smtClean="0"/>
              <a:t>30.10.2025</a:t>
            </a:fld>
            <a:endParaRPr lang="de-CH"/>
          </a:p>
        </p:txBody>
      </p:sp>
      <p:sp>
        <p:nvSpPr>
          <p:cNvPr id="5" name="Fußzeilenplatzhalter 4">
            <a:extLst>
              <a:ext uri="{FF2B5EF4-FFF2-40B4-BE49-F238E27FC236}">
                <a16:creationId xmlns:a16="http://schemas.microsoft.com/office/drawing/2014/main" id="{E152C0C8-1490-FAF9-035A-3DE8719F1AC3}"/>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8902255C-878B-0EB7-12AA-3C1253A26265}"/>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11843819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5B2E772-99DE-2E2C-917A-424FC9A0ECD3}"/>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de-CH"/>
          </a:p>
        </p:txBody>
      </p:sp>
      <p:sp>
        <p:nvSpPr>
          <p:cNvPr id="3" name="Textplatzhalter 2">
            <a:extLst>
              <a:ext uri="{FF2B5EF4-FFF2-40B4-BE49-F238E27FC236}">
                <a16:creationId xmlns:a16="http://schemas.microsoft.com/office/drawing/2014/main" id="{1990862B-B148-DF62-D4B6-07861BFD65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EA222C90-712C-2A1C-C247-0F1C2C071F0E}"/>
              </a:ext>
            </a:extLst>
          </p:cNvPr>
          <p:cNvSpPr>
            <a:spLocks noGrp="1"/>
          </p:cNvSpPr>
          <p:nvPr>
            <p:ph type="dt" sz="half" idx="10"/>
          </p:nvPr>
        </p:nvSpPr>
        <p:spPr/>
        <p:txBody>
          <a:bodyPr/>
          <a:lstStyle/>
          <a:p>
            <a:fld id="{7F8A538B-4D7E-5140-B8A0-3BED4EA7EF08}" type="datetime1">
              <a:rPr lang="de-CH" smtClean="0"/>
              <a:t>30.10.2025</a:t>
            </a:fld>
            <a:endParaRPr lang="de-CH"/>
          </a:p>
        </p:txBody>
      </p:sp>
      <p:sp>
        <p:nvSpPr>
          <p:cNvPr id="5" name="Fußzeilenplatzhalter 4">
            <a:extLst>
              <a:ext uri="{FF2B5EF4-FFF2-40B4-BE49-F238E27FC236}">
                <a16:creationId xmlns:a16="http://schemas.microsoft.com/office/drawing/2014/main" id="{87E09740-E0BA-43A9-F845-6CEB3560CAC3}"/>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6BAD32FB-0986-ABC7-D478-1CB1017244DF}"/>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4061806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025F9B-EA88-EE25-FB86-D033A86FD851}"/>
              </a:ext>
            </a:extLst>
          </p:cNvPr>
          <p:cNvSpPr>
            <a:spLocks noGrp="1"/>
          </p:cNvSpPr>
          <p:nvPr>
            <p:ph type="title"/>
          </p:nvPr>
        </p:nvSpPr>
        <p:spPr/>
        <p:txBody>
          <a:bodyPr/>
          <a:lstStyle/>
          <a:p>
            <a:r>
              <a:rPr lang="de-DE"/>
              <a:t>Mastertitelformat bearbeiten</a:t>
            </a:r>
            <a:endParaRPr lang="de-CH"/>
          </a:p>
        </p:txBody>
      </p:sp>
      <p:sp>
        <p:nvSpPr>
          <p:cNvPr id="3" name="Inhaltsplatzhalter 2">
            <a:extLst>
              <a:ext uri="{FF2B5EF4-FFF2-40B4-BE49-F238E27FC236}">
                <a16:creationId xmlns:a16="http://schemas.microsoft.com/office/drawing/2014/main" id="{4A0142FC-CF7E-26CE-0274-356CE069149A}"/>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Inhaltsplatzhalter 3">
            <a:extLst>
              <a:ext uri="{FF2B5EF4-FFF2-40B4-BE49-F238E27FC236}">
                <a16:creationId xmlns:a16="http://schemas.microsoft.com/office/drawing/2014/main" id="{C35AA18B-4229-704E-3613-5ABB1457642F}"/>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Datumsplatzhalter 4">
            <a:extLst>
              <a:ext uri="{FF2B5EF4-FFF2-40B4-BE49-F238E27FC236}">
                <a16:creationId xmlns:a16="http://schemas.microsoft.com/office/drawing/2014/main" id="{B4B27A1E-94FD-C29A-C201-C0848DBCB1D1}"/>
              </a:ext>
            </a:extLst>
          </p:cNvPr>
          <p:cNvSpPr>
            <a:spLocks noGrp="1"/>
          </p:cNvSpPr>
          <p:nvPr>
            <p:ph type="dt" sz="half" idx="10"/>
          </p:nvPr>
        </p:nvSpPr>
        <p:spPr/>
        <p:txBody>
          <a:bodyPr/>
          <a:lstStyle/>
          <a:p>
            <a:fld id="{30AD4D8D-0490-344A-8358-944BCB7C3A3C}" type="datetime1">
              <a:rPr lang="de-CH" smtClean="0"/>
              <a:t>30.10.2025</a:t>
            </a:fld>
            <a:endParaRPr lang="de-CH"/>
          </a:p>
        </p:txBody>
      </p:sp>
      <p:sp>
        <p:nvSpPr>
          <p:cNvPr id="6" name="Fußzeilenplatzhalter 5">
            <a:extLst>
              <a:ext uri="{FF2B5EF4-FFF2-40B4-BE49-F238E27FC236}">
                <a16:creationId xmlns:a16="http://schemas.microsoft.com/office/drawing/2014/main" id="{8CE8D6C5-6CDC-1B23-F234-593B3FEF98AE}"/>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42A8F17D-01B0-8AA0-ACE7-6AB81E84605D}"/>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19903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452884C-3AD6-03FD-4365-D5D9787158A0}"/>
              </a:ext>
            </a:extLst>
          </p:cNvPr>
          <p:cNvSpPr>
            <a:spLocks noGrp="1"/>
          </p:cNvSpPr>
          <p:nvPr>
            <p:ph type="title"/>
          </p:nvPr>
        </p:nvSpPr>
        <p:spPr>
          <a:xfrm>
            <a:off x="839788" y="365125"/>
            <a:ext cx="10515600" cy="1325563"/>
          </a:xfrm>
        </p:spPr>
        <p:txBody>
          <a:bodyPr/>
          <a:lstStyle/>
          <a:p>
            <a:r>
              <a:rPr lang="de-DE"/>
              <a:t>Mastertitelformat bearbeiten</a:t>
            </a:r>
            <a:endParaRPr lang="de-CH"/>
          </a:p>
        </p:txBody>
      </p:sp>
      <p:sp>
        <p:nvSpPr>
          <p:cNvPr id="3" name="Textplatzhalter 2">
            <a:extLst>
              <a:ext uri="{FF2B5EF4-FFF2-40B4-BE49-F238E27FC236}">
                <a16:creationId xmlns:a16="http://schemas.microsoft.com/office/drawing/2014/main" id="{5BF41D64-6B50-C5D2-6713-DD84F72571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A6EF44E2-C9A3-197C-3CEF-B8F82974D6D3}"/>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5" name="Textplatzhalter 4">
            <a:extLst>
              <a:ext uri="{FF2B5EF4-FFF2-40B4-BE49-F238E27FC236}">
                <a16:creationId xmlns:a16="http://schemas.microsoft.com/office/drawing/2014/main" id="{18C246DE-4092-C115-A4A7-D04107EDE12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ACFD7E2-F728-8946-11B8-99D1CDB3D27D}"/>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7" name="Datumsplatzhalter 6">
            <a:extLst>
              <a:ext uri="{FF2B5EF4-FFF2-40B4-BE49-F238E27FC236}">
                <a16:creationId xmlns:a16="http://schemas.microsoft.com/office/drawing/2014/main" id="{DB18F069-0FD6-5827-7F81-1E344F642934}"/>
              </a:ext>
            </a:extLst>
          </p:cNvPr>
          <p:cNvSpPr>
            <a:spLocks noGrp="1"/>
          </p:cNvSpPr>
          <p:nvPr>
            <p:ph type="dt" sz="half" idx="10"/>
          </p:nvPr>
        </p:nvSpPr>
        <p:spPr/>
        <p:txBody>
          <a:bodyPr/>
          <a:lstStyle/>
          <a:p>
            <a:fld id="{94D72FB6-10CC-B24B-96EF-34CECE99506A}" type="datetime1">
              <a:rPr lang="de-CH" smtClean="0"/>
              <a:t>30.10.2025</a:t>
            </a:fld>
            <a:endParaRPr lang="de-CH"/>
          </a:p>
        </p:txBody>
      </p:sp>
      <p:sp>
        <p:nvSpPr>
          <p:cNvPr id="8" name="Fußzeilenplatzhalter 7">
            <a:extLst>
              <a:ext uri="{FF2B5EF4-FFF2-40B4-BE49-F238E27FC236}">
                <a16:creationId xmlns:a16="http://schemas.microsoft.com/office/drawing/2014/main" id="{58647168-A301-036B-0B43-40257876852D}"/>
              </a:ext>
            </a:extLst>
          </p:cNvPr>
          <p:cNvSpPr>
            <a:spLocks noGrp="1"/>
          </p:cNvSpPr>
          <p:nvPr>
            <p:ph type="ftr" sz="quarter" idx="11"/>
          </p:nvPr>
        </p:nvSpPr>
        <p:spPr/>
        <p:txBody>
          <a:bodyPr/>
          <a:lstStyle/>
          <a:p>
            <a:endParaRPr lang="de-CH"/>
          </a:p>
        </p:txBody>
      </p:sp>
      <p:sp>
        <p:nvSpPr>
          <p:cNvPr id="9" name="Foliennummernplatzhalter 8">
            <a:extLst>
              <a:ext uri="{FF2B5EF4-FFF2-40B4-BE49-F238E27FC236}">
                <a16:creationId xmlns:a16="http://schemas.microsoft.com/office/drawing/2014/main" id="{CAC68D48-CA0D-9375-E924-7C7639D756D6}"/>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1566142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C7CF319-36DC-05AC-2D85-C0727045E7F7}"/>
              </a:ext>
            </a:extLst>
          </p:cNvPr>
          <p:cNvSpPr>
            <a:spLocks noGrp="1"/>
          </p:cNvSpPr>
          <p:nvPr>
            <p:ph type="title"/>
          </p:nvPr>
        </p:nvSpPr>
        <p:spPr/>
        <p:txBody>
          <a:bodyPr/>
          <a:lstStyle/>
          <a:p>
            <a:r>
              <a:rPr lang="de-DE"/>
              <a:t>Mastertitelformat bearbeiten</a:t>
            </a:r>
            <a:endParaRPr lang="de-CH"/>
          </a:p>
        </p:txBody>
      </p:sp>
      <p:sp>
        <p:nvSpPr>
          <p:cNvPr id="3" name="Datumsplatzhalter 2">
            <a:extLst>
              <a:ext uri="{FF2B5EF4-FFF2-40B4-BE49-F238E27FC236}">
                <a16:creationId xmlns:a16="http://schemas.microsoft.com/office/drawing/2014/main" id="{C98F306A-33E2-F8CE-54D3-CCEA13486338}"/>
              </a:ext>
            </a:extLst>
          </p:cNvPr>
          <p:cNvSpPr>
            <a:spLocks noGrp="1"/>
          </p:cNvSpPr>
          <p:nvPr>
            <p:ph type="dt" sz="half" idx="10"/>
          </p:nvPr>
        </p:nvSpPr>
        <p:spPr/>
        <p:txBody>
          <a:bodyPr/>
          <a:lstStyle/>
          <a:p>
            <a:fld id="{83A42C75-22A2-B941-AA76-933445A3FAC2}" type="datetime1">
              <a:rPr lang="de-CH" smtClean="0"/>
              <a:t>30.10.2025</a:t>
            </a:fld>
            <a:endParaRPr lang="de-CH"/>
          </a:p>
        </p:txBody>
      </p:sp>
      <p:sp>
        <p:nvSpPr>
          <p:cNvPr id="4" name="Fußzeilenplatzhalter 3">
            <a:extLst>
              <a:ext uri="{FF2B5EF4-FFF2-40B4-BE49-F238E27FC236}">
                <a16:creationId xmlns:a16="http://schemas.microsoft.com/office/drawing/2014/main" id="{527FB9B5-F894-1B28-D392-84DD9A1CB6E6}"/>
              </a:ext>
            </a:extLst>
          </p:cNvPr>
          <p:cNvSpPr>
            <a:spLocks noGrp="1"/>
          </p:cNvSpPr>
          <p:nvPr>
            <p:ph type="ftr" sz="quarter" idx="11"/>
          </p:nvPr>
        </p:nvSpPr>
        <p:spPr/>
        <p:txBody>
          <a:bodyPr/>
          <a:lstStyle/>
          <a:p>
            <a:endParaRPr lang="de-CH"/>
          </a:p>
        </p:txBody>
      </p:sp>
      <p:sp>
        <p:nvSpPr>
          <p:cNvPr id="5" name="Foliennummernplatzhalter 4">
            <a:extLst>
              <a:ext uri="{FF2B5EF4-FFF2-40B4-BE49-F238E27FC236}">
                <a16:creationId xmlns:a16="http://schemas.microsoft.com/office/drawing/2014/main" id="{C9C27B51-85C6-B967-92B1-D55A90D1A0F4}"/>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604894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A2A6E77-F9E3-9309-4561-163EC25CA157}"/>
              </a:ext>
            </a:extLst>
          </p:cNvPr>
          <p:cNvSpPr>
            <a:spLocks noGrp="1"/>
          </p:cNvSpPr>
          <p:nvPr>
            <p:ph type="dt" sz="half" idx="10"/>
          </p:nvPr>
        </p:nvSpPr>
        <p:spPr/>
        <p:txBody>
          <a:bodyPr/>
          <a:lstStyle/>
          <a:p>
            <a:fld id="{7160D969-7A8C-3E46-B3DE-A7D8658E8F44}" type="datetime1">
              <a:rPr lang="de-CH" smtClean="0"/>
              <a:t>30.10.2025</a:t>
            </a:fld>
            <a:endParaRPr lang="de-CH"/>
          </a:p>
        </p:txBody>
      </p:sp>
      <p:sp>
        <p:nvSpPr>
          <p:cNvPr id="3" name="Fußzeilenplatzhalter 2">
            <a:extLst>
              <a:ext uri="{FF2B5EF4-FFF2-40B4-BE49-F238E27FC236}">
                <a16:creationId xmlns:a16="http://schemas.microsoft.com/office/drawing/2014/main" id="{83D4981D-FBB2-C8ED-D6CD-DCAF60886C31}"/>
              </a:ext>
            </a:extLst>
          </p:cNvPr>
          <p:cNvSpPr>
            <a:spLocks noGrp="1"/>
          </p:cNvSpPr>
          <p:nvPr>
            <p:ph type="ftr" sz="quarter" idx="11"/>
          </p:nvPr>
        </p:nvSpPr>
        <p:spPr/>
        <p:txBody>
          <a:bodyPr/>
          <a:lstStyle/>
          <a:p>
            <a:endParaRPr lang="de-CH"/>
          </a:p>
        </p:txBody>
      </p:sp>
      <p:sp>
        <p:nvSpPr>
          <p:cNvPr id="4" name="Foliennummernplatzhalter 3">
            <a:extLst>
              <a:ext uri="{FF2B5EF4-FFF2-40B4-BE49-F238E27FC236}">
                <a16:creationId xmlns:a16="http://schemas.microsoft.com/office/drawing/2014/main" id="{80B86C17-1B6C-48ED-260C-EF6A3E6E28D2}"/>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4170419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334C25-9ACD-2753-FFF0-3C948463D7C9}"/>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Inhaltsplatzhalter 2">
            <a:extLst>
              <a:ext uri="{FF2B5EF4-FFF2-40B4-BE49-F238E27FC236}">
                <a16:creationId xmlns:a16="http://schemas.microsoft.com/office/drawing/2014/main" id="{46165099-54C0-3F6B-7DDF-9E45CB78AF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Textplatzhalter 3">
            <a:extLst>
              <a:ext uri="{FF2B5EF4-FFF2-40B4-BE49-F238E27FC236}">
                <a16:creationId xmlns:a16="http://schemas.microsoft.com/office/drawing/2014/main" id="{3DACA608-8A00-F63D-56D2-40142BBF7E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37CFEF3-8610-F75A-75D2-5DAA8C4E75E7}"/>
              </a:ext>
            </a:extLst>
          </p:cNvPr>
          <p:cNvSpPr>
            <a:spLocks noGrp="1"/>
          </p:cNvSpPr>
          <p:nvPr>
            <p:ph type="dt" sz="half" idx="10"/>
          </p:nvPr>
        </p:nvSpPr>
        <p:spPr/>
        <p:txBody>
          <a:bodyPr/>
          <a:lstStyle/>
          <a:p>
            <a:fld id="{2E5288BE-4EFE-5D46-8FB2-049BC4180E9F}" type="datetime1">
              <a:rPr lang="de-CH" smtClean="0"/>
              <a:t>30.10.2025</a:t>
            </a:fld>
            <a:endParaRPr lang="de-CH"/>
          </a:p>
        </p:txBody>
      </p:sp>
      <p:sp>
        <p:nvSpPr>
          <p:cNvPr id="6" name="Fußzeilenplatzhalter 5">
            <a:extLst>
              <a:ext uri="{FF2B5EF4-FFF2-40B4-BE49-F238E27FC236}">
                <a16:creationId xmlns:a16="http://schemas.microsoft.com/office/drawing/2014/main" id="{5EDD681A-8D06-5104-CCD8-E5111CD95055}"/>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06122C90-2A5E-A5C6-81DE-852ACBC8C694}"/>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18218413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23B9DA3-0449-599F-52A0-7895DDF6C46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de-CH"/>
          </a:p>
        </p:txBody>
      </p:sp>
      <p:sp>
        <p:nvSpPr>
          <p:cNvPr id="3" name="Bildplatzhalter 2">
            <a:extLst>
              <a:ext uri="{FF2B5EF4-FFF2-40B4-BE49-F238E27FC236}">
                <a16:creationId xmlns:a16="http://schemas.microsoft.com/office/drawing/2014/main" id="{53AEA154-02CD-08D0-5A84-68A7896D8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CH"/>
          </a:p>
        </p:txBody>
      </p:sp>
      <p:sp>
        <p:nvSpPr>
          <p:cNvPr id="4" name="Textplatzhalter 3">
            <a:extLst>
              <a:ext uri="{FF2B5EF4-FFF2-40B4-BE49-F238E27FC236}">
                <a16:creationId xmlns:a16="http://schemas.microsoft.com/office/drawing/2014/main" id="{5894D573-AF6D-1922-7CD3-54CB4C1F17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FCEDAE9-093F-00FE-E2F6-56700F576B22}"/>
              </a:ext>
            </a:extLst>
          </p:cNvPr>
          <p:cNvSpPr>
            <a:spLocks noGrp="1"/>
          </p:cNvSpPr>
          <p:nvPr>
            <p:ph type="dt" sz="half" idx="10"/>
          </p:nvPr>
        </p:nvSpPr>
        <p:spPr/>
        <p:txBody>
          <a:bodyPr/>
          <a:lstStyle/>
          <a:p>
            <a:fld id="{5D8B73B8-B08F-3A48-9281-5EF4DBAC57FA}" type="datetime1">
              <a:rPr lang="de-CH" smtClean="0"/>
              <a:t>30.10.2025</a:t>
            </a:fld>
            <a:endParaRPr lang="de-CH"/>
          </a:p>
        </p:txBody>
      </p:sp>
      <p:sp>
        <p:nvSpPr>
          <p:cNvPr id="6" name="Fußzeilenplatzhalter 5">
            <a:extLst>
              <a:ext uri="{FF2B5EF4-FFF2-40B4-BE49-F238E27FC236}">
                <a16:creationId xmlns:a16="http://schemas.microsoft.com/office/drawing/2014/main" id="{99A09217-8CB6-F6A3-654F-5CA56FBC25D9}"/>
              </a:ext>
            </a:extLst>
          </p:cNvPr>
          <p:cNvSpPr>
            <a:spLocks noGrp="1"/>
          </p:cNvSpPr>
          <p:nvPr>
            <p:ph type="ftr" sz="quarter" idx="11"/>
          </p:nvPr>
        </p:nvSpPr>
        <p:spPr/>
        <p:txBody>
          <a:bodyPr/>
          <a:lstStyle/>
          <a:p>
            <a:endParaRPr lang="de-CH"/>
          </a:p>
        </p:txBody>
      </p:sp>
      <p:sp>
        <p:nvSpPr>
          <p:cNvPr id="7" name="Foliennummernplatzhalter 6">
            <a:extLst>
              <a:ext uri="{FF2B5EF4-FFF2-40B4-BE49-F238E27FC236}">
                <a16:creationId xmlns:a16="http://schemas.microsoft.com/office/drawing/2014/main" id="{C567D1B3-1CA4-CB08-7B05-C5014C4181CD}"/>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3152374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CA4193E-4655-20FB-6DB3-21809F6A8734}"/>
              </a:ext>
            </a:extLst>
          </p:cNvPr>
          <p:cNvSpPr>
            <a:spLocks noGrp="1"/>
          </p:cNvSpPr>
          <p:nvPr>
            <p:ph type="title"/>
          </p:nvPr>
        </p:nvSpPr>
        <p:spPr/>
        <p:txBody>
          <a:bodyPr/>
          <a:lstStyle/>
          <a:p>
            <a:r>
              <a:rPr lang="de-DE"/>
              <a:t>Mastertitelformat bearbeiten</a:t>
            </a:r>
            <a:endParaRPr lang="de-CH"/>
          </a:p>
        </p:txBody>
      </p:sp>
      <p:sp>
        <p:nvSpPr>
          <p:cNvPr id="3" name="Vertikaler Textplatzhalter 2">
            <a:extLst>
              <a:ext uri="{FF2B5EF4-FFF2-40B4-BE49-F238E27FC236}">
                <a16:creationId xmlns:a16="http://schemas.microsoft.com/office/drawing/2014/main" id="{0FB66BA0-1621-449C-80F6-A3147D34FBEB}"/>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E202D876-9A0D-27A2-709D-172766A17159}"/>
              </a:ext>
            </a:extLst>
          </p:cNvPr>
          <p:cNvSpPr>
            <a:spLocks noGrp="1"/>
          </p:cNvSpPr>
          <p:nvPr>
            <p:ph type="dt" sz="half" idx="10"/>
          </p:nvPr>
        </p:nvSpPr>
        <p:spPr/>
        <p:txBody>
          <a:bodyPr/>
          <a:lstStyle/>
          <a:p>
            <a:fld id="{D2E80321-3639-A44B-BF10-B2A388CFEDF3}" type="datetime1">
              <a:rPr lang="de-CH" smtClean="0"/>
              <a:t>30.10.2025</a:t>
            </a:fld>
            <a:endParaRPr lang="de-CH"/>
          </a:p>
        </p:txBody>
      </p:sp>
      <p:sp>
        <p:nvSpPr>
          <p:cNvPr id="5" name="Fußzeilenplatzhalter 4">
            <a:extLst>
              <a:ext uri="{FF2B5EF4-FFF2-40B4-BE49-F238E27FC236}">
                <a16:creationId xmlns:a16="http://schemas.microsoft.com/office/drawing/2014/main" id="{A455C75E-C3AE-8AC3-56DA-EB189E51818E}"/>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4132E56B-39E8-01CF-A2FA-82396FC68E18}"/>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2565359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EC5A2486-876B-94BB-3C3D-D142890FC0B6}"/>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de-CH"/>
          </a:p>
        </p:txBody>
      </p:sp>
      <p:sp>
        <p:nvSpPr>
          <p:cNvPr id="3" name="Vertikaler Textplatzhalter 2">
            <a:extLst>
              <a:ext uri="{FF2B5EF4-FFF2-40B4-BE49-F238E27FC236}">
                <a16:creationId xmlns:a16="http://schemas.microsoft.com/office/drawing/2014/main" id="{058A8FA0-6871-DDB8-D925-A2AEED98382D}"/>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7DC7323E-D9AB-21B3-8377-C7A1A3A9D4CB}"/>
              </a:ext>
            </a:extLst>
          </p:cNvPr>
          <p:cNvSpPr>
            <a:spLocks noGrp="1"/>
          </p:cNvSpPr>
          <p:nvPr>
            <p:ph type="dt" sz="half" idx="10"/>
          </p:nvPr>
        </p:nvSpPr>
        <p:spPr/>
        <p:txBody>
          <a:bodyPr/>
          <a:lstStyle/>
          <a:p>
            <a:fld id="{3A8C80BD-D117-BF4D-AC01-BDA3130A76B5}" type="datetime1">
              <a:rPr lang="de-CH" smtClean="0"/>
              <a:t>30.10.2025</a:t>
            </a:fld>
            <a:endParaRPr lang="de-CH"/>
          </a:p>
        </p:txBody>
      </p:sp>
      <p:sp>
        <p:nvSpPr>
          <p:cNvPr id="5" name="Fußzeilenplatzhalter 4">
            <a:extLst>
              <a:ext uri="{FF2B5EF4-FFF2-40B4-BE49-F238E27FC236}">
                <a16:creationId xmlns:a16="http://schemas.microsoft.com/office/drawing/2014/main" id="{1F665427-0C76-DEA8-1ADF-4E5276954A64}"/>
              </a:ext>
            </a:extLst>
          </p:cNvPr>
          <p:cNvSpPr>
            <a:spLocks noGrp="1"/>
          </p:cNvSpPr>
          <p:nvPr>
            <p:ph type="ftr" sz="quarter" idx="11"/>
          </p:nvPr>
        </p:nvSpPr>
        <p:spPr/>
        <p:txBody>
          <a:bodyPr/>
          <a:lstStyle/>
          <a:p>
            <a:endParaRPr lang="de-CH"/>
          </a:p>
        </p:txBody>
      </p:sp>
      <p:sp>
        <p:nvSpPr>
          <p:cNvPr id="6" name="Foliennummernplatzhalter 5">
            <a:extLst>
              <a:ext uri="{FF2B5EF4-FFF2-40B4-BE49-F238E27FC236}">
                <a16:creationId xmlns:a16="http://schemas.microsoft.com/office/drawing/2014/main" id="{E1E25ABF-8C79-D3D7-368C-7A4EBDE284C3}"/>
              </a:ext>
            </a:extLst>
          </p:cNvPr>
          <p:cNvSpPr>
            <a:spLocks noGrp="1"/>
          </p:cNvSpPr>
          <p:nvPr>
            <p:ph type="sldNum" sz="quarter" idx="12"/>
          </p:nvPr>
        </p:nvSpPr>
        <p:spPr/>
        <p:txBody>
          <a:bodyPr/>
          <a:lstStyle/>
          <a:p>
            <a:fld id="{AD036ABA-2983-EA40-A0BC-E355E1F2A4C5}" type="slidenum">
              <a:rPr lang="de-CH" smtClean="0"/>
              <a:t>‹#›</a:t>
            </a:fld>
            <a:endParaRPr lang="de-CH"/>
          </a:p>
        </p:txBody>
      </p:sp>
    </p:spTree>
    <p:extLst>
      <p:ext uri="{BB962C8B-B14F-4D97-AF65-F5344CB8AC3E}">
        <p14:creationId xmlns:p14="http://schemas.microsoft.com/office/powerpoint/2010/main" val="992125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1B540573-EC8F-A34B-9E5B-C162054099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de-CH"/>
          </a:p>
        </p:txBody>
      </p:sp>
      <p:sp>
        <p:nvSpPr>
          <p:cNvPr id="3" name="Textplatzhalter 2">
            <a:extLst>
              <a:ext uri="{FF2B5EF4-FFF2-40B4-BE49-F238E27FC236}">
                <a16:creationId xmlns:a16="http://schemas.microsoft.com/office/drawing/2014/main" id="{1B4FA492-EB0C-1B51-24CD-B5BB86757D9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4" name="Datumsplatzhalter 3">
            <a:extLst>
              <a:ext uri="{FF2B5EF4-FFF2-40B4-BE49-F238E27FC236}">
                <a16:creationId xmlns:a16="http://schemas.microsoft.com/office/drawing/2014/main" id="{F029CC5A-7464-A79B-0F8A-00D6E5621D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EC264BA-7F50-D745-9230-BA7E47D82FF6}" type="datetime1">
              <a:rPr lang="de-CH" smtClean="0"/>
              <a:t>30.10.2025</a:t>
            </a:fld>
            <a:endParaRPr lang="de-CH"/>
          </a:p>
        </p:txBody>
      </p:sp>
      <p:sp>
        <p:nvSpPr>
          <p:cNvPr id="5" name="Fußzeilenplatzhalter 4">
            <a:extLst>
              <a:ext uri="{FF2B5EF4-FFF2-40B4-BE49-F238E27FC236}">
                <a16:creationId xmlns:a16="http://schemas.microsoft.com/office/drawing/2014/main" id="{0721C3A2-EA06-C5F6-ABC0-EBFCB36BA3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CH"/>
          </a:p>
        </p:txBody>
      </p:sp>
      <p:sp>
        <p:nvSpPr>
          <p:cNvPr id="6" name="Foliennummernplatzhalter 5">
            <a:extLst>
              <a:ext uri="{FF2B5EF4-FFF2-40B4-BE49-F238E27FC236}">
                <a16:creationId xmlns:a16="http://schemas.microsoft.com/office/drawing/2014/main" id="{682FCEDD-4801-F8C5-BB37-4FCCA5E889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036ABA-2983-EA40-A0BC-E355E1F2A4C5}" type="slidenum">
              <a:rPr lang="de-CH" smtClean="0"/>
              <a:t>‹#›</a:t>
            </a:fld>
            <a:endParaRPr lang="de-CH"/>
          </a:p>
        </p:txBody>
      </p:sp>
    </p:spTree>
    <p:extLst>
      <p:ext uri="{BB962C8B-B14F-4D97-AF65-F5344CB8AC3E}">
        <p14:creationId xmlns:p14="http://schemas.microsoft.com/office/powerpoint/2010/main" val="21345841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doi.org/10.1002/ece3.10516"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9" name="Rectangle 1030">
            <a:extLst>
              <a:ext uri="{FF2B5EF4-FFF2-40B4-BE49-F238E27FC236}">
                <a16:creationId xmlns:a16="http://schemas.microsoft.com/office/drawing/2014/main" id="{6F828D28-8E09-41CC-8229-3070B5467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Hoverflies: Beneficial Insects in Gardens">
            <a:extLst>
              <a:ext uri="{FF2B5EF4-FFF2-40B4-BE49-F238E27FC236}">
                <a16:creationId xmlns:a16="http://schemas.microsoft.com/office/drawing/2014/main" id="{6C1393E2-D892-3563-31B0-A3AA35E544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005" b="10725"/>
          <a:stretch>
            <a:fillRect/>
          </a:stretch>
        </p:blipFill>
        <p:spPr bwMode="auto">
          <a:xfrm>
            <a:off x="20" y="-22"/>
            <a:ext cx="12191977" cy="6858022"/>
          </a:xfrm>
          <a:prstGeom prst="rect">
            <a:avLst/>
          </a:prstGeom>
          <a:noFill/>
          <a:extLst>
            <a:ext uri="{909E8E84-426E-40DD-AFC4-6F175D3DCCD1}">
              <a14:hiddenFill xmlns:a14="http://schemas.microsoft.com/office/drawing/2010/main">
                <a:solidFill>
                  <a:srgbClr val="FFFFFF"/>
                </a:solidFill>
              </a14:hiddenFill>
            </a:ext>
          </a:extLst>
        </p:spPr>
      </p:pic>
      <p:sp>
        <p:nvSpPr>
          <p:cNvPr id="1040" name="Rectangle 1032">
            <a:extLst>
              <a:ext uri="{FF2B5EF4-FFF2-40B4-BE49-F238E27FC236}">
                <a16:creationId xmlns:a16="http://schemas.microsoft.com/office/drawing/2014/main" id="{D5B012D8-7F27-4758-9AC6-C889B154B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103377" y="1100316"/>
            <a:ext cx="6858003" cy="4657347"/>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el 1">
            <a:extLst>
              <a:ext uri="{FF2B5EF4-FFF2-40B4-BE49-F238E27FC236}">
                <a16:creationId xmlns:a16="http://schemas.microsoft.com/office/drawing/2014/main" id="{778859A4-316D-B04C-9196-0C791F37C86C}"/>
              </a:ext>
            </a:extLst>
          </p:cNvPr>
          <p:cNvSpPr>
            <a:spLocks noGrp="1"/>
          </p:cNvSpPr>
          <p:nvPr>
            <p:ph type="ctrTitle"/>
          </p:nvPr>
        </p:nvSpPr>
        <p:spPr>
          <a:xfrm>
            <a:off x="643466" y="643467"/>
            <a:ext cx="5452529" cy="3569242"/>
          </a:xfrm>
        </p:spPr>
        <p:txBody>
          <a:bodyPr anchor="t">
            <a:normAutofit/>
          </a:bodyPr>
          <a:lstStyle/>
          <a:p>
            <a:pPr algn="l"/>
            <a:r>
              <a:rPr lang="de-CH" sz="5200">
                <a:solidFill>
                  <a:srgbClr val="FFFFFF"/>
                </a:solidFill>
              </a:rPr>
              <a:t>Project Hoverfly</a:t>
            </a:r>
          </a:p>
        </p:txBody>
      </p:sp>
      <p:sp>
        <p:nvSpPr>
          <p:cNvPr id="3" name="Untertitel 2">
            <a:extLst>
              <a:ext uri="{FF2B5EF4-FFF2-40B4-BE49-F238E27FC236}">
                <a16:creationId xmlns:a16="http://schemas.microsoft.com/office/drawing/2014/main" id="{4C3666FE-21A1-A0EE-B094-4FC6AB1CA14E}"/>
              </a:ext>
            </a:extLst>
          </p:cNvPr>
          <p:cNvSpPr>
            <a:spLocks noGrp="1"/>
          </p:cNvSpPr>
          <p:nvPr>
            <p:ph type="subTitle" idx="1"/>
          </p:nvPr>
        </p:nvSpPr>
        <p:spPr>
          <a:xfrm>
            <a:off x="542093" y="4552335"/>
            <a:ext cx="5452529" cy="1419440"/>
          </a:xfrm>
        </p:spPr>
        <p:txBody>
          <a:bodyPr anchor="b">
            <a:normAutofit fontScale="85000" lnSpcReduction="20000"/>
          </a:bodyPr>
          <a:lstStyle/>
          <a:p>
            <a:pPr algn="l"/>
            <a:r>
              <a:rPr lang="de-CH" err="1">
                <a:solidFill>
                  <a:srgbClr val="FFFFFF"/>
                </a:solidFill>
              </a:rPr>
              <a:t>Theoretical</a:t>
            </a:r>
            <a:r>
              <a:rPr lang="de-CH">
                <a:solidFill>
                  <a:srgbClr val="FFFFFF"/>
                </a:solidFill>
              </a:rPr>
              <a:t> Ecology </a:t>
            </a:r>
            <a:r>
              <a:rPr lang="de-CH" err="1">
                <a:solidFill>
                  <a:srgbClr val="FFFFFF"/>
                </a:solidFill>
              </a:rPr>
              <a:t>Practical</a:t>
            </a:r>
            <a:endParaRPr lang="de-CH">
              <a:solidFill>
                <a:srgbClr val="FFFFFF"/>
              </a:solidFill>
            </a:endParaRPr>
          </a:p>
          <a:p>
            <a:pPr algn="l"/>
            <a:r>
              <a:rPr lang="de-CH">
                <a:solidFill>
                  <a:srgbClr val="FFFFFF"/>
                </a:solidFill>
              </a:rPr>
              <a:t>30.10.2025</a:t>
            </a:r>
          </a:p>
          <a:p>
            <a:pPr algn="l"/>
            <a:endParaRPr lang="de-CH">
              <a:solidFill>
                <a:srgbClr val="FFFFFF"/>
              </a:solidFill>
            </a:endParaRPr>
          </a:p>
          <a:p>
            <a:pPr algn="l"/>
            <a:r>
              <a:rPr lang="de-CH">
                <a:solidFill>
                  <a:srgbClr val="FFFFFF"/>
                </a:solidFill>
              </a:rPr>
              <a:t>Sarai and </a:t>
            </a:r>
            <a:r>
              <a:rPr lang="de-CH" err="1">
                <a:solidFill>
                  <a:srgbClr val="FFFFFF"/>
                </a:solidFill>
              </a:rPr>
              <a:t>Charith</a:t>
            </a:r>
            <a:endParaRPr lang="de-CH">
              <a:solidFill>
                <a:srgbClr val="FFFFFF"/>
              </a:solidFill>
            </a:endParaRPr>
          </a:p>
        </p:txBody>
      </p:sp>
      <p:sp>
        <p:nvSpPr>
          <p:cNvPr id="1041" name="Rectangle 1034">
            <a:extLst>
              <a:ext uri="{FF2B5EF4-FFF2-40B4-BE49-F238E27FC236}">
                <a16:creationId xmlns:a16="http://schemas.microsoft.com/office/drawing/2014/main" id="{4063B759-00FC-46D1-9898-8E8625268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40187" y="2206184"/>
            <a:ext cx="6858003" cy="2445624"/>
          </a:xfrm>
          <a:prstGeom prst="rect">
            <a:avLst/>
          </a:prstGeom>
          <a:gradFill flip="none" rotWithShape="1">
            <a:gsLst>
              <a:gs pos="48000">
                <a:srgbClr val="000000">
                  <a:alpha val="24000"/>
                </a:srgbClr>
              </a:gs>
              <a:gs pos="85000">
                <a:srgbClr val="000000">
                  <a:alpha val="45000"/>
                </a:srgbClr>
              </a:gs>
              <a:gs pos="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liennummernplatzhalter 3">
            <a:extLst>
              <a:ext uri="{FF2B5EF4-FFF2-40B4-BE49-F238E27FC236}">
                <a16:creationId xmlns:a16="http://schemas.microsoft.com/office/drawing/2014/main" id="{CF7DAFC7-F35A-2F03-4238-4613E505C0FD}"/>
              </a:ext>
            </a:extLst>
          </p:cNvPr>
          <p:cNvSpPr>
            <a:spLocks noGrp="1"/>
          </p:cNvSpPr>
          <p:nvPr>
            <p:ph type="sldNum" sz="quarter" idx="12"/>
          </p:nvPr>
        </p:nvSpPr>
        <p:spPr/>
        <p:txBody>
          <a:bodyPr/>
          <a:lstStyle/>
          <a:p>
            <a:fld id="{AD036ABA-2983-EA40-A0BC-E355E1F2A4C5}" type="slidenum">
              <a:rPr lang="de-CH" smtClean="0"/>
              <a:t>0</a:t>
            </a:fld>
            <a:endParaRPr lang="de-CH"/>
          </a:p>
        </p:txBody>
      </p:sp>
    </p:spTree>
    <p:extLst>
      <p:ext uri="{BB962C8B-B14F-4D97-AF65-F5344CB8AC3E}">
        <p14:creationId xmlns:p14="http://schemas.microsoft.com/office/powerpoint/2010/main" val="309082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9502B-0633-7AC8-23B2-3EB78A8C5649}"/>
              </a:ext>
            </a:extLst>
          </p:cNvPr>
          <p:cNvSpPr>
            <a:spLocks noGrp="1"/>
          </p:cNvSpPr>
          <p:nvPr>
            <p:ph type="title"/>
          </p:nvPr>
        </p:nvSpPr>
        <p:spPr>
          <a:xfrm>
            <a:off x="603422" y="0"/>
            <a:ext cx="10515600" cy="1325563"/>
          </a:xfrm>
        </p:spPr>
        <p:txBody>
          <a:bodyPr/>
          <a:lstStyle/>
          <a:p>
            <a:r>
              <a:rPr lang="de-CH" dirty="0"/>
              <a:t>Introduction</a:t>
            </a:r>
            <a:endParaRPr lang="en-CH" dirty="0"/>
          </a:p>
        </p:txBody>
      </p:sp>
      <p:sp>
        <p:nvSpPr>
          <p:cNvPr id="3" name="Content Placeholder 2">
            <a:extLst>
              <a:ext uri="{FF2B5EF4-FFF2-40B4-BE49-F238E27FC236}">
                <a16:creationId xmlns:a16="http://schemas.microsoft.com/office/drawing/2014/main" id="{345488E6-0AC8-A6A2-0035-F1511655F3F1}"/>
              </a:ext>
            </a:extLst>
          </p:cNvPr>
          <p:cNvSpPr>
            <a:spLocks noGrp="1"/>
          </p:cNvSpPr>
          <p:nvPr>
            <p:ph idx="1"/>
          </p:nvPr>
        </p:nvSpPr>
        <p:spPr>
          <a:xfrm>
            <a:off x="603422" y="1198563"/>
            <a:ext cx="10750378" cy="4832601"/>
          </a:xfrm>
        </p:spPr>
        <p:txBody>
          <a:bodyPr/>
          <a:lstStyle/>
          <a:p>
            <a:r>
              <a:rPr lang="de-CH" sz="2400" dirty="0"/>
              <a:t>Climate change causes more temperature extremes, threatening population survival</a:t>
            </a:r>
          </a:p>
          <a:p>
            <a:r>
              <a:rPr lang="de-CH" sz="2400" dirty="0"/>
              <a:t>Insect, being ectothermic, are highly sensitive to heat stress (Heal et al. 1988)</a:t>
            </a:r>
          </a:p>
          <a:p>
            <a:r>
              <a:rPr lang="de-CH" sz="2400" dirty="0"/>
              <a:t>Egg dormancy helps survive stress but delays reproduction and adult survival drives population growth</a:t>
            </a:r>
          </a:p>
          <a:p>
            <a:r>
              <a:rPr lang="de-CH" sz="2400" dirty="0"/>
              <a:t>Evolutionary rescue happens when adaptive mutations prevent extintion</a:t>
            </a:r>
          </a:p>
          <a:p>
            <a:r>
              <a:rPr lang="de-CH" sz="2400" dirty="0"/>
              <a:t>Mutation affecting specific life stages may determine survival under stress</a:t>
            </a:r>
          </a:p>
          <a:p>
            <a:endParaRPr lang="en-CH" dirty="0"/>
          </a:p>
        </p:txBody>
      </p:sp>
      <p:sp>
        <p:nvSpPr>
          <p:cNvPr id="4" name="Slide Number Placeholder 3">
            <a:extLst>
              <a:ext uri="{FF2B5EF4-FFF2-40B4-BE49-F238E27FC236}">
                <a16:creationId xmlns:a16="http://schemas.microsoft.com/office/drawing/2014/main" id="{E79B9F0C-ADD7-890E-DF00-C769B4A13C8B}"/>
              </a:ext>
            </a:extLst>
          </p:cNvPr>
          <p:cNvSpPr>
            <a:spLocks noGrp="1"/>
          </p:cNvSpPr>
          <p:nvPr>
            <p:ph type="sldNum" sz="quarter" idx="12"/>
          </p:nvPr>
        </p:nvSpPr>
        <p:spPr/>
        <p:txBody>
          <a:bodyPr/>
          <a:lstStyle/>
          <a:p>
            <a:fld id="{AD036ABA-2983-EA40-A0BC-E355E1F2A4C5}" type="slidenum">
              <a:rPr lang="de-CH" smtClean="0"/>
              <a:t>1</a:t>
            </a:fld>
            <a:endParaRPr lang="de-CH"/>
          </a:p>
        </p:txBody>
      </p:sp>
      <p:sp>
        <p:nvSpPr>
          <p:cNvPr id="5" name="Rectangle 1">
            <a:extLst>
              <a:ext uri="{FF2B5EF4-FFF2-40B4-BE49-F238E27FC236}">
                <a16:creationId xmlns:a16="http://schemas.microsoft.com/office/drawing/2014/main" id="{D4CF58DD-2B47-E71C-2061-A612FD42380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H"/>
          </a:p>
        </p:txBody>
      </p:sp>
      <p:pic>
        <p:nvPicPr>
          <p:cNvPr id="7" name="Picture 6">
            <a:extLst>
              <a:ext uri="{FF2B5EF4-FFF2-40B4-BE49-F238E27FC236}">
                <a16:creationId xmlns:a16="http://schemas.microsoft.com/office/drawing/2014/main" id="{833327EA-3C16-2A38-6C2B-41EA1CA25B5A}"/>
              </a:ext>
            </a:extLst>
          </p:cNvPr>
          <p:cNvPicPr>
            <a:picLocks noChangeAspect="1"/>
          </p:cNvPicPr>
          <p:nvPr/>
        </p:nvPicPr>
        <p:blipFill>
          <a:blip r:embed="rId3"/>
          <a:stretch>
            <a:fillRect/>
          </a:stretch>
        </p:blipFill>
        <p:spPr>
          <a:xfrm>
            <a:off x="3473622" y="4247122"/>
            <a:ext cx="4419600" cy="2474353"/>
          </a:xfrm>
          <a:prstGeom prst="rect">
            <a:avLst/>
          </a:prstGeom>
        </p:spPr>
      </p:pic>
    </p:spTree>
    <p:extLst>
      <p:ext uri="{BB962C8B-B14F-4D97-AF65-F5344CB8AC3E}">
        <p14:creationId xmlns:p14="http://schemas.microsoft.com/office/powerpoint/2010/main" val="3856772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Hoverflies | Life 4 Pollinators">
            <a:extLst>
              <a:ext uri="{FF2B5EF4-FFF2-40B4-BE49-F238E27FC236}">
                <a16:creationId xmlns:a16="http://schemas.microsoft.com/office/drawing/2014/main" id="{BA9F40BA-7832-B052-F6C9-6DA0412D2D3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8180" t="12912" r="7199" b="12224"/>
          <a:stretch>
            <a:fillRect/>
          </a:stretch>
        </p:blipFill>
        <p:spPr bwMode="auto">
          <a:xfrm rot="3325484">
            <a:off x="9873161" y="4625818"/>
            <a:ext cx="2019957" cy="178704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overflies | Life 4 Pollinators">
            <a:extLst>
              <a:ext uri="{FF2B5EF4-FFF2-40B4-BE49-F238E27FC236}">
                <a16:creationId xmlns:a16="http://schemas.microsoft.com/office/drawing/2014/main" id="{BBAF4E8B-6830-1BBF-0C4F-9137A03350B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33" t="10409" r="8059"/>
          <a:stretch>
            <a:fillRect/>
          </a:stretch>
        </p:blipFill>
        <p:spPr bwMode="auto">
          <a:xfrm rot="18791718">
            <a:off x="492042" y="446402"/>
            <a:ext cx="2225756" cy="2313146"/>
          </a:xfrm>
          <a:prstGeom prst="rect">
            <a:avLst/>
          </a:prstGeom>
          <a:noFill/>
          <a:extLst>
            <a:ext uri="{909E8E84-426E-40DD-AFC4-6F175D3DCCD1}">
              <a14:hiddenFill xmlns:a14="http://schemas.microsoft.com/office/drawing/2010/main">
                <a:solidFill>
                  <a:srgbClr val="FFFFFF"/>
                </a:solidFill>
              </a14:hiddenFill>
            </a:ext>
          </a:extLst>
        </p:spPr>
      </p:pic>
      <p:sp>
        <p:nvSpPr>
          <p:cNvPr id="3" name="Inhaltsplatzhalter 2">
            <a:extLst>
              <a:ext uri="{FF2B5EF4-FFF2-40B4-BE49-F238E27FC236}">
                <a16:creationId xmlns:a16="http://schemas.microsoft.com/office/drawing/2014/main" id="{832CE5F8-BDB8-43E2-7CB6-68E7C2248786}"/>
              </a:ext>
            </a:extLst>
          </p:cNvPr>
          <p:cNvSpPr>
            <a:spLocks noGrp="1"/>
          </p:cNvSpPr>
          <p:nvPr>
            <p:ph idx="1"/>
          </p:nvPr>
        </p:nvSpPr>
        <p:spPr>
          <a:xfrm>
            <a:off x="838200" y="2767633"/>
            <a:ext cx="10515600" cy="4351338"/>
          </a:xfrm>
        </p:spPr>
        <p:txBody>
          <a:bodyPr/>
          <a:lstStyle/>
          <a:p>
            <a:pPr marL="0" indent="0">
              <a:lnSpc>
                <a:spcPct val="150000"/>
              </a:lnSpc>
              <a:buNone/>
            </a:pPr>
            <a:r>
              <a:rPr lang="de-CH" i="1" err="1"/>
              <a:t>How</a:t>
            </a:r>
            <a:r>
              <a:rPr lang="de-CH" i="1"/>
              <a:t> do </a:t>
            </a:r>
            <a:r>
              <a:rPr lang="de-CH" i="1" err="1"/>
              <a:t>new</a:t>
            </a:r>
            <a:r>
              <a:rPr lang="de-CH" i="1"/>
              <a:t> </a:t>
            </a:r>
            <a:r>
              <a:rPr lang="de-CH" i="1" err="1"/>
              <a:t>mutations</a:t>
            </a:r>
            <a:r>
              <a:rPr lang="de-CH" i="1"/>
              <a:t> in a </a:t>
            </a:r>
            <a:r>
              <a:rPr lang="de-CH" i="1" err="1"/>
              <a:t>species</a:t>
            </a:r>
            <a:r>
              <a:rPr lang="de-CH" i="1"/>
              <a:t> </a:t>
            </a:r>
            <a:r>
              <a:rPr lang="de-CH" i="1" err="1"/>
              <a:t>with</a:t>
            </a:r>
            <a:r>
              <a:rPr lang="de-CH" i="1"/>
              <a:t> different </a:t>
            </a:r>
            <a:r>
              <a:rPr lang="de-CH" i="1" err="1"/>
              <a:t>life</a:t>
            </a:r>
            <a:r>
              <a:rPr lang="de-CH" i="1"/>
              <a:t> </a:t>
            </a:r>
            <a:r>
              <a:rPr lang="de-CH" i="1" err="1"/>
              <a:t>stages</a:t>
            </a:r>
            <a:r>
              <a:rPr lang="de-CH" i="1"/>
              <a:t> </a:t>
            </a:r>
            <a:r>
              <a:rPr lang="de-CH" i="1" err="1"/>
              <a:t>influence</a:t>
            </a:r>
            <a:r>
              <a:rPr lang="de-CH" i="1"/>
              <a:t> </a:t>
            </a:r>
            <a:r>
              <a:rPr lang="de-CH" i="1" err="1"/>
              <a:t>evolutionary</a:t>
            </a:r>
            <a:r>
              <a:rPr lang="de-CH" i="1"/>
              <a:t> </a:t>
            </a:r>
            <a:r>
              <a:rPr lang="de-CH" i="1" err="1"/>
              <a:t>rescue</a:t>
            </a:r>
            <a:r>
              <a:rPr lang="de-CH" i="1"/>
              <a:t> </a:t>
            </a:r>
            <a:r>
              <a:rPr lang="de-CH" i="1" err="1"/>
              <a:t>of</a:t>
            </a:r>
            <a:r>
              <a:rPr lang="de-CH" i="1"/>
              <a:t> </a:t>
            </a:r>
            <a:r>
              <a:rPr lang="de-CH" i="1" err="1"/>
              <a:t>the</a:t>
            </a:r>
            <a:r>
              <a:rPr lang="de-CH" i="1"/>
              <a:t> </a:t>
            </a:r>
            <a:r>
              <a:rPr lang="de-CH" i="1" err="1"/>
              <a:t>population</a:t>
            </a:r>
            <a:r>
              <a:rPr lang="de-CH" i="1"/>
              <a:t> </a:t>
            </a:r>
            <a:r>
              <a:rPr lang="de-CH" i="1" err="1"/>
              <a:t>under</a:t>
            </a:r>
            <a:r>
              <a:rPr lang="de-CH" i="1"/>
              <a:t> </a:t>
            </a:r>
            <a:r>
              <a:rPr lang="de-CH" i="1" err="1"/>
              <a:t>temperature</a:t>
            </a:r>
            <a:r>
              <a:rPr lang="de-CH" i="1"/>
              <a:t> stress?</a:t>
            </a:r>
            <a:endParaRPr lang="de-CH"/>
          </a:p>
          <a:p>
            <a:endParaRPr lang="de-CH"/>
          </a:p>
          <a:p>
            <a:endParaRPr lang="de-CH"/>
          </a:p>
          <a:p>
            <a:endParaRPr lang="de-CH"/>
          </a:p>
        </p:txBody>
      </p:sp>
      <p:sp>
        <p:nvSpPr>
          <p:cNvPr id="6" name="Rectangle 1">
            <a:extLst>
              <a:ext uri="{FF2B5EF4-FFF2-40B4-BE49-F238E27FC236}">
                <a16:creationId xmlns:a16="http://schemas.microsoft.com/office/drawing/2014/main" id="{42B7A735-9893-5CC7-F481-3601B5B4D93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H"/>
          </a:p>
        </p:txBody>
      </p:sp>
      <p:sp>
        <p:nvSpPr>
          <p:cNvPr id="4" name="Foliennummernplatzhalter 3">
            <a:extLst>
              <a:ext uri="{FF2B5EF4-FFF2-40B4-BE49-F238E27FC236}">
                <a16:creationId xmlns:a16="http://schemas.microsoft.com/office/drawing/2014/main" id="{1DC0452B-B1D2-1DAA-0337-BE3E18EEB82D}"/>
              </a:ext>
            </a:extLst>
          </p:cNvPr>
          <p:cNvSpPr>
            <a:spLocks noGrp="1"/>
          </p:cNvSpPr>
          <p:nvPr>
            <p:ph type="sldNum" sz="quarter" idx="12"/>
          </p:nvPr>
        </p:nvSpPr>
        <p:spPr/>
        <p:txBody>
          <a:bodyPr/>
          <a:lstStyle/>
          <a:p>
            <a:fld id="{AD036ABA-2983-EA40-A0BC-E355E1F2A4C5}" type="slidenum">
              <a:rPr lang="de-CH" smtClean="0"/>
              <a:t>2</a:t>
            </a:fld>
            <a:endParaRPr lang="de-CH"/>
          </a:p>
        </p:txBody>
      </p:sp>
    </p:spTree>
    <p:extLst>
      <p:ext uri="{BB962C8B-B14F-4D97-AF65-F5344CB8AC3E}">
        <p14:creationId xmlns:p14="http://schemas.microsoft.com/office/powerpoint/2010/main" val="17174818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B60C2D-E187-EA03-FA36-D7F245EC54F3}"/>
              </a:ext>
            </a:extLst>
          </p:cNvPr>
          <p:cNvSpPr>
            <a:spLocks noGrp="1"/>
          </p:cNvSpPr>
          <p:nvPr>
            <p:ph type="title"/>
          </p:nvPr>
        </p:nvSpPr>
        <p:spPr/>
        <p:txBody>
          <a:bodyPr>
            <a:normAutofit/>
          </a:bodyPr>
          <a:lstStyle/>
          <a:p>
            <a:r>
              <a:rPr lang="de-CH" sz="4000"/>
              <a:t>Model </a:t>
            </a:r>
            <a:r>
              <a:rPr lang="de-CH" sz="4000" err="1"/>
              <a:t>species</a:t>
            </a:r>
            <a:r>
              <a:rPr lang="de-CH" sz="4000"/>
              <a:t> - </a:t>
            </a:r>
            <a:r>
              <a:rPr lang="de-CH" sz="4000" err="1"/>
              <a:t>Hoverfly</a:t>
            </a:r>
            <a:endParaRPr lang="de-CH" sz="4000"/>
          </a:p>
        </p:txBody>
      </p:sp>
      <p:sp>
        <p:nvSpPr>
          <p:cNvPr id="3" name="Inhaltsplatzhalter 2">
            <a:extLst>
              <a:ext uri="{FF2B5EF4-FFF2-40B4-BE49-F238E27FC236}">
                <a16:creationId xmlns:a16="http://schemas.microsoft.com/office/drawing/2014/main" id="{A31A7064-EE70-4A95-33AF-D282A4195EBB}"/>
              </a:ext>
            </a:extLst>
          </p:cNvPr>
          <p:cNvSpPr>
            <a:spLocks noGrp="1"/>
          </p:cNvSpPr>
          <p:nvPr>
            <p:ph idx="1"/>
          </p:nvPr>
        </p:nvSpPr>
        <p:spPr/>
        <p:txBody>
          <a:bodyPr/>
          <a:lstStyle/>
          <a:p>
            <a:pPr>
              <a:lnSpc>
                <a:spcPct val="150000"/>
              </a:lnSpc>
            </a:pPr>
            <a:r>
              <a:rPr lang="de-CH" err="1"/>
              <a:t>Important</a:t>
            </a:r>
            <a:r>
              <a:rPr lang="de-CH"/>
              <a:t> </a:t>
            </a:r>
            <a:r>
              <a:rPr lang="de-CH" err="1"/>
              <a:t>worldwide</a:t>
            </a:r>
            <a:r>
              <a:rPr lang="de-CH"/>
              <a:t> </a:t>
            </a:r>
            <a:r>
              <a:rPr lang="de-CH" err="1"/>
              <a:t>pollinators</a:t>
            </a:r>
            <a:r>
              <a:rPr lang="de-CH"/>
              <a:t> and pest </a:t>
            </a:r>
            <a:r>
              <a:rPr lang="de-CH" err="1"/>
              <a:t>control</a:t>
            </a:r>
            <a:r>
              <a:rPr lang="de-CH"/>
              <a:t> </a:t>
            </a:r>
            <a:r>
              <a:rPr lang="de-CH" sz="2400"/>
              <a:t>(Doyle et al. 2020)</a:t>
            </a:r>
          </a:p>
          <a:p>
            <a:pPr>
              <a:lnSpc>
                <a:spcPct val="150000"/>
              </a:lnSpc>
            </a:pPr>
            <a:r>
              <a:rPr lang="de-CH"/>
              <a:t>4 </a:t>
            </a:r>
            <a:r>
              <a:rPr lang="de-CH" err="1"/>
              <a:t>life</a:t>
            </a:r>
            <a:r>
              <a:rPr lang="de-CH"/>
              <a:t> </a:t>
            </a:r>
            <a:r>
              <a:rPr lang="de-CH" err="1"/>
              <a:t>stages</a:t>
            </a:r>
            <a:r>
              <a:rPr lang="de-CH"/>
              <a:t> (egg, </a:t>
            </a:r>
            <a:r>
              <a:rPr lang="de-CH" err="1"/>
              <a:t>larva</a:t>
            </a:r>
            <a:r>
              <a:rPr lang="de-CH"/>
              <a:t>, </a:t>
            </a:r>
            <a:r>
              <a:rPr lang="de-CH" err="1"/>
              <a:t>pupa</a:t>
            </a:r>
            <a:r>
              <a:rPr lang="de-CH"/>
              <a:t>, adult)</a:t>
            </a:r>
          </a:p>
          <a:p>
            <a:pPr>
              <a:lnSpc>
                <a:spcPct val="150000"/>
              </a:lnSpc>
            </a:pPr>
            <a:r>
              <a:rPr lang="de-CH"/>
              <a:t>Optimal </a:t>
            </a:r>
            <a:r>
              <a:rPr lang="de-CH" err="1"/>
              <a:t>hatching</a:t>
            </a:r>
            <a:r>
              <a:rPr lang="de-CH"/>
              <a:t> </a:t>
            </a:r>
            <a:r>
              <a:rPr lang="de-CH" err="1"/>
              <a:t>temperature</a:t>
            </a:r>
            <a:r>
              <a:rPr lang="de-CH"/>
              <a:t> </a:t>
            </a:r>
            <a:r>
              <a:rPr lang="de-CH" err="1"/>
              <a:t>range</a:t>
            </a:r>
            <a:r>
              <a:rPr lang="de-CH"/>
              <a:t> 17-23°C </a:t>
            </a:r>
          </a:p>
          <a:p>
            <a:pPr>
              <a:lnSpc>
                <a:spcPct val="150000"/>
              </a:lnSpc>
            </a:pPr>
            <a:r>
              <a:rPr lang="de-CH"/>
              <a:t>Ambient </a:t>
            </a:r>
            <a:r>
              <a:rPr lang="de-CH" err="1"/>
              <a:t>temperature</a:t>
            </a:r>
            <a:r>
              <a:rPr lang="de-CH"/>
              <a:t> </a:t>
            </a:r>
            <a:r>
              <a:rPr lang="de-CH" err="1"/>
              <a:t>affects</a:t>
            </a:r>
            <a:r>
              <a:rPr lang="de-CH"/>
              <a:t> </a:t>
            </a:r>
            <a:r>
              <a:rPr lang="de-CH" err="1"/>
              <a:t>developmental</a:t>
            </a:r>
            <a:r>
              <a:rPr lang="de-CH"/>
              <a:t> time and adult </a:t>
            </a:r>
            <a:r>
              <a:rPr lang="de-CH" err="1"/>
              <a:t>coloration</a:t>
            </a:r>
            <a:r>
              <a:rPr lang="de-CH"/>
              <a:t> </a:t>
            </a:r>
            <a:r>
              <a:rPr lang="de-CH" sz="2400"/>
              <a:t>(</a:t>
            </a:r>
            <a:r>
              <a:rPr lang="de-CH" sz="2400" err="1"/>
              <a:t>Danková</a:t>
            </a:r>
            <a:r>
              <a:rPr lang="de-CH" sz="2400"/>
              <a:t> et al. 2023)</a:t>
            </a:r>
          </a:p>
          <a:p>
            <a:endParaRPr lang="de-CH"/>
          </a:p>
          <a:p>
            <a:endParaRPr lang="de-CH"/>
          </a:p>
        </p:txBody>
      </p:sp>
      <p:pic>
        <p:nvPicPr>
          <p:cNvPr id="4" name="Picture 4" descr="Hoverflies | Life 4 Pollinators">
            <a:extLst>
              <a:ext uri="{FF2B5EF4-FFF2-40B4-BE49-F238E27FC236}">
                <a16:creationId xmlns:a16="http://schemas.microsoft.com/office/drawing/2014/main" id="{DD099B88-1FF0-C7D6-68FA-F5111A6334D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33" t="10409" r="8059"/>
          <a:stretch>
            <a:fillRect/>
          </a:stretch>
        </p:blipFill>
        <p:spPr bwMode="auto">
          <a:xfrm rot="18791718">
            <a:off x="9414552" y="218548"/>
            <a:ext cx="1432854" cy="1489112"/>
          </a:xfrm>
          <a:prstGeom prst="rect">
            <a:avLst/>
          </a:prstGeom>
          <a:noFill/>
          <a:extLst>
            <a:ext uri="{909E8E84-426E-40DD-AFC4-6F175D3DCCD1}">
              <a14:hiddenFill xmlns:a14="http://schemas.microsoft.com/office/drawing/2010/main">
                <a:solidFill>
                  <a:srgbClr val="FFFFFF"/>
                </a:solidFill>
              </a14:hiddenFill>
            </a:ext>
          </a:extLst>
        </p:spPr>
      </p:pic>
      <p:sp>
        <p:nvSpPr>
          <p:cNvPr id="5" name="Foliennummernplatzhalter 4">
            <a:extLst>
              <a:ext uri="{FF2B5EF4-FFF2-40B4-BE49-F238E27FC236}">
                <a16:creationId xmlns:a16="http://schemas.microsoft.com/office/drawing/2014/main" id="{61C45EE9-749E-E6A7-5304-B2A2067A2C3E}"/>
              </a:ext>
            </a:extLst>
          </p:cNvPr>
          <p:cNvSpPr>
            <a:spLocks noGrp="1"/>
          </p:cNvSpPr>
          <p:nvPr>
            <p:ph type="sldNum" sz="quarter" idx="12"/>
          </p:nvPr>
        </p:nvSpPr>
        <p:spPr/>
        <p:txBody>
          <a:bodyPr/>
          <a:lstStyle/>
          <a:p>
            <a:fld id="{AD036ABA-2983-EA40-A0BC-E355E1F2A4C5}" type="slidenum">
              <a:rPr lang="de-CH" smtClean="0"/>
              <a:t>3</a:t>
            </a:fld>
            <a:endParaRPr lang="de-CH"/>
          </a:p>
        </p:txBody>
      </p:sp>
    </p:spTree>
    <p:extLst>
      <p:ext uri="{BB962C8B-B14F-4D97-AF65-F5344CB8AC3E}">
        <p14:creationId xmlns:p14="http://schemas.microsoft.com/office/powerpoint/2010/main" val="24332644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A05BB7-0C43-985D-6173-DF446F5C97C9}"/>
              </a:ext>
            </a:extLst>
          </p:cNvPr>
          <p:cNvSpPr>
            <a:spLocks noGrp="1"/>
          </p:cNvSpPr>
          <p:nvPr>
            <p:ph type="title"/>
          </p:nvPr>
        </p:nvSpPr>
        <p:spPr>
          <a:xfrm>
            <a:off x="1019833" y="24384"/>
            <a:ext cx="10515600" cy="1325563"/>
          </a:xfrm>
        </p:spPr>
        <p:txBody>
          <a:bodyPr>
            <a:normAutofit/>
          </a:bodyPr>
          <a:lstStyle/>
          <a:p>
            <a:r>
              <a:rPr lang="de-CH" sz="3600"/>
              <a:t>Model Overview</a:t>
            </a:r>
          </a:p>
        </p:txBody>
      </p:sp>
      <p:sp>
        <p:nvSpPr>
          <p:cNvPr id="3" name="Inhaltsplatzhalter 2">
            <a:extLst>
              <a:ext uri="{FF2B5EF4-FFF2-40B4-BE49-F238E27FC236}">
                <a16:creationId xmlns:a16="http://schemas.microsoft.com/office/drawing/2014/main" id="{B6F82624-9AC1-6A50-EA75-8429B84D789C}"/>
              </a:ext>
            </a:extLst>
          </p:cNvPr>
          <p:cNvSpPr>
            <a:spLocks noGrp="1"/>
          </p:cNvSpPr>
          <p:nvPr>
            <p:ph idx="1"/>
          </p:nvPr>
        </p:nvSpPr>
        <p:spPr>
          <a:xfrm>
            <a:off x="1019833" y="1151467"/>
            <a:ext cx="10515600" cy="4525434"/>
          </a:xfrm>
        </p:spPr>
        <p:txBody>
          <a:bodyPr>
            <a:normAutofit/>
          </a:bodyPr>
          <a:lstStyle/>
          <a:p>
            <a:pPr>
              <a:spcAft>
                <a:spcPts val="600"/>
              </a:spcAft>
            </a:pPr>
            <a:r>
              <a:rPr lang="de-CH" sz="2400" dirty="0"/>
              <a:t>Stochastic simulation</a:t>
            </a:r>
          </a:p>
          <a:p>
            <a:pPr>
              <a:spcAft>
                <a:spcPts val="600"/>
              </a:spcAft>
            </a:pPr>
            <a:r>
              <a:rPr lang="de-CH" sz="2400" dirty="0"/>
              <a:t>2 </a:t>
            </a:r>
            <a:r>
              <a:rPr lang="de-CH" sz="2400" err="1"/>
              <a:t>genotypes</a:t>
            </a:r>
            <a:r>
              <a:rPr lang="de-CH" sz="2400" dirty="0"/>
              <a:t>: </a:t>
            </a:r>
            <a:r>
              <a:rPr lang="de-CH" sz="2400" err="1"/>
              <a:t>wildtype</a:t>
            </a:r>
            <a:r>
              <a:rPr lang="de-CH" sz="2400" dirty="0"/>
              <a:t> and </a:t>
            </a:r>
            <a:r>
              <a:rPr lang="de-CH" sz="2400" err="1"/>
              <a:t>mutant</a:t>
            </a:r>
            <a:r>
              <a:rPr lang="de-CH" sz="2400" dirty="0"/>
              <a:t>, Haploid </a:t>
            </a:r>
          </a:p>
          <a:p>
            <a:pPr>
              <a:spcAft>
                <a:spcPts val="600"/>
              </a:spcAft>
            </a:pPr>
            <a:r>
              <a:rPr lang="de-CH" sz="2400" dirty="0"/>
              <a:t>Wildtype 			Mutant </a:t>
            </a:r>
          </a:p>
          <a:p>
            <a:pPr>
              <a:spcAft>
                <a:spcPts val="600"/>
              </a:spcAft>
            </a:pPr>
            <a:r>
              <a:rPr lang="de-CH" sz="2400" dirty="0"/>
              <a:t>Only eggs survive into next generation</a:t>
            </a:r>
          </a:p>
        </p:txBody>
      </p:sp>
      <p:graphicFrame>
        <p:nvGraphicFramePr>
          <p:cNvPr id="4" name="Table 3">
            <a:extLst>
              <a:ext uri="{FF2B5EF4-FFF2-40B4-BE49-F238E27FC236}">
                <a16:creationId xmlns:a16="http://schemas.microsoft.com/office/drawing/2014/main" id="{C7DE4CAD-047A-CD0E-363C-D687B94A9B3D}"/>
              </a:ext>
            </a:extLst>
          </p:cNvPr>
          <p:cNvGraphicFramePr>
            <a:graphicFrameLocks noGrp="1"/>
          </p:cNvGraphicFramePr>
          <p:nvPr>
            <p:extLst>
              <p:ext uri="{D42A27DB-BD31-4B8C-83A1-F6EECF244321}">
                <p14:modId xmlns:p14="http://schemas.microsoft.com/office/powerpoint/2010/main" val="4061274216"/>
              </p:ext>
            </p:extLst>
          </p:nvPr>
        </p:nvGraphicFramePr>
        <p:xfrm>
          <a:off x="1655620" y="3429000"/>
          <a:ext cx="7940663" cy="2992122"/>
        </p:xfrm>
        <a:graphic>
          <a:graphicData uri="http://schemas.openxmlformats.org/drawingml/2006/table">
            <a:tbl>
              <a:tblPr firstRow="1" bandRow="1">
                <a:solidFill>
                  <a:srgbClr val="FBFF7B"/>
                </a:solidFill>
                <a:tableStyleId>{21E4AEA4-8DFA-4A89-87EB-49C32662AFE0}</a:tableStyleId>
              </a:tblPr>
              <a:tblGrid>
                <a:gridCol w="1565252">
                  <a:extLst>
                    <a:ext uri="{9D8B030D-6E8A-4147-A177-3AD203B41FA5}">
                      <a16:colId xmlns:a16="http://schemas.microsoft.com/office/drawing/2014/main" val="4146899148"/>
                    </a:ext>
                  </a:extLst>
                </a:gridCol>
                <a:gridCol w="4885898">
                  <a:extLst>
                    <a:ext uri="{9D8B030D-6E8A-4147-A177-3AD203B41FA5}">
                      <a16:colId xmlns:a16="http://schemas.microsoft.com/office/drawing/2014/main" val="2941563999"/>
                    </a:ext>
                  </a:extLst>
                </a:gridCol>
                <a:gridCol w="1489513">
                  <a:extLst>
                    <a:ext uri="{9D8B030D-6E8A-4147-A177-3AD203B41FA5}">
                      <a16:colId xmlns:a16="http://schemas.microsoft.com/office/drawing/2014/main" val="2030917688"/>
                    </a:ext>
                  </a:extLst>
                </a:gridCol>
              </a:tblGrid>
              <a:tr h="427446">
                <a:tc>
                  <a:txBody>
                    <a:bodyPr/>
                    <a:lstStyle/>
                    <a:p>
                      <a:r>
                        <a:rPr lang="en-US"/>
                        <a:t>Parameters</a:t>
                      </a:r>
                      <a:endParaRPr lang="en-CH"/>
                    </a:p>
                  </a:txBody>
                  <a:tcPr>
                    <a:solidFill>
                      <a:srgbClr val="FFC000"/>
                    </a:solidFill>
                  </a:tcPr>
                </a:tc>
                <a:tc>
                  <a:txBody>
                    <a:bodyPr/>
                    <a:lstStyle/>
                    <a:p>
                      <a:r>
                        <a:rPr lang="en-US"/>
                        <a:t>Description</a:t>
                      </a:r>
                      <a:endParaRPr lang="en-CH"/>
                    </a:p>
                  </a:txBody>
                  <a:tcPr>
                    <a:solidFill>
                      <a:srgbClr val="FFC000"/>
                    </a:solidFill>
                  </a:tcPr>
                </a:tc>
                <a:tc>
                  <a:txBody>
                    <a:bodyPr/>
                    <a:lstStyle/>
                    <a:p>
                      <a:r>
                        <a:rPr lang="de-CH"/>
                        <a:t>Values</a:t>
                      </a:r>
                      <a:endParaRPr lang="en-CH"/>
                    </a:p>
                  </a:txBody>
                  <a:tcPr>
                    <a:solidFill>
                      <a:srgbClr val="FFC000"/>
                    </a:solidFill>
                  </a:tcPr>
                </a:tc>
                <a:extLst>
                  <a:ext uri="{0D108BD9-81ED-4DB2-BD59-A6C34878D82A}">
                    <a16:rowId xmlns:a16="http://schemas.microsoft.com/office/drawing/2014/main" val="738321314"/>
                  </a:ext>
                </a:extLst>
              </a:tr>
              <a:tr h="427446">
                <a:tc>
                  <a:txBody>
                    <a:bodyPr/>
                    <a:lstStyle/>
                    <a:p>
                      <a:r>
                        <a:rPr lang="en-CH"/>
                        <a:t>Z_w, </a:t>
                      </a:r>
                      <a:r>
                        <a:rPr lang="en-US"/>
                        <a:t> </a:t>
                      </a:r>
                      <a:r>
                        <a:rPr lang="en-CH"/>
                        <a:t>Z_m</a:t>
                      </a:r>
                    </a:p>
                  </a:txBody>
                  <a:tcPr>
                    <a:solidFill>
                      <a:srgbClr val="FFE769"/>
                    </a:solidFill>
                  </a:tcPr>
                </a:tc>
                <a:tc>
                  <a:txBody>
                    <a:bodyPr/>
                    <a:lstStyle/>
                    <a:p>
                      <a:r>
                        <a:rPr lang="en-US"/>
                        <a:t>Initial population of wildtype and mutant eggs</a:t>
                      </a:r>
                      <a:endParaRPr lang="en-CH"/>
                    </a:p>
                  </a:txBody>
                  <a:tcPr>
                    <a:solidFill>
                      <a:srgbClr val="FFE769"/>
                    </a:solidFill>
                  </a:tcPr>
                </a:tc>
                <a:tc>
                  <a:txBody>
                    <a:bodyPr/>
                    <a:lstStyle/>
                    <a:p>
                      <a:r>
                        <a:rPr lang="en-US"/>
                        <a:t>100w, 50m</a:t>
                      </a:r>
                      <a:endParaRPr lang="en-CH"/>
                    </a:p>
                  </a:txBody>
                  <a:tcPr>
                    <a:solidFill>
                      <a:srgbClr val="FFE769"/>
                    </a:solidFill>
                  </a:tcPr>
                </a:tc>
                <a:extLst>
                  <a:ext uri="{0D108BD9-81ED-4DB2-BD59-A6C34878D82A}">
                    <a16:rowId xmlns:a16="http://schemas.microsoft.com/office/drawing/2014/main" val="64547530"/>
                  </a:ext>
                </a:extLst>
              </a:tr>
              <a:tr h="427446">
                <a:tc>
                  <a:txBody>
                    <a:bodyPr/>
                    <a:lstStyle/>
                    <a:p>
                      <a:r>
                        <a:rPr lang="en-CH"/>
                        <a:t>f_w, </a:t>
                      </a:r>
                      <a:r>
                        <a:rPr lang="en-US"/>
                        <a:t> </a:t>
                      </a:r>
                      <a:r>
                        <a:rPr lang="en-CH"/>
                        <a:t>f_m</a:t>
                      </a:r>
                    </a:p>
                  </a:txBody>
                  <a:tcPr>
                    <a:solidFill>
                      <a:srgbClr val="FFE769"/>
                    </a:solidFill>
                  </a:tcPr>
                </a:tc>
                <a:tc>
                  <a:txBody>
                    <a:bodyPr/>
                    <a:lstStyle/>
                    <a:p>
                      <a:r>
                        <a:rPr lang="en-GB" dirty="0"/>
                        <a:t>Fecundity wildtype and mutant (eggs per adult)</a:t>
                      </a:r>
                      <a:endParaRPr lang="en-CH" dirty="0"/>
                    </a:p>
                  </a:txBody>
                  <a:tcPr>
                    <a:solidFill>
                      <a:srgbClr val="FFE769"/>
                    </a:solidFill>
                  </a:tcPr>
                </a:tc>
                <a:tc>
                  <a:txBody>
                    <a:bodyPr/>
                    <a:lstStyle/>
                    <a:p>
                      <a:r>
                        <a:rPr lang="de-CH"/>
                        <a:t>2-3w, 2-4m </a:t>
                      </a:r>
                      <a:endParaRPr lang="en-CH"/>
                    </a:p>
                  </a:txBody>
                  <a:tcPr>
                    <a:solidFill>
                      <a:srgbClr val="FFE769"/>
                    </a:solidFill>
                  </a:tcPr>
                </a:tc>
                <a:extLst>
                  <a:ext uri="{0D108BD9-81ED-4DB2-BD59-A6C34878D82A}">
                    <a16:rowId xmlns:a16="http://schemas.microsoft.com/office/drawing/2014/main" val="211015438"/>
                  </a:ext>
                </a:extLst>
              </a:tr>
              <a:tr h="427446">
                <a:tc>
                  <a:txBody>
                    <a:bodyPr/>
                    <a:lstStyle/>
                    <a:p>
                      <a:r>
                        <a:rPr lang="en-CH"/>
                        <a:t>hZ_w, hZ_m</a:t>
                      </a:r>
                    </a:p>
                  </a:txBody>
                  <a:tcPr>
                    <a:solidFill>
                      <a:srgbClr val="FFE769"/>
                    </a:solidFill>
                  </a:tcPr>
                </a:tc>
                <a:tc>
                  <a:txBody>
                    <a:bodyPr/>
                    <a:lstStyle/>
                    <a:p>
                      <a:r>
                        <a:rPr lang="en-GB"/>
                        <a:t>Hatching rate</a:t>
                      </a:r>
                      <a:endParaRPr lang="en-CH"/>
                    </a:p>
                  </a:txBody>
                  <a:tcPr>
                    <a:solidFill>
                      <a:srgbClr val="FFE769"/>
                    </a:solidFill>
                  </a:tcPr>
                </a:tc>
                <a:tc>
                  <a:txBody>
                    <a:bodyPr/>
                    <a:lstStyle/>
                    <a:p>
                      <a:r>
                        <a:rPr lang="de-CH"/>
                        <a:t>0.5w, 0.55m </a:t>
                      </a:r>
                      <a:endParaRPr lang="en-CH"/>
                    </a:p>
                  </a:txBody>
                  <a:tcPr>
                    <a:solidFill>
                      <a:srgbClr val="FFE769"/>
                    </a:solidFill>
                  </a:tcPr>
                </a:tc>
                <a:extLst>
                  <a:ext uri="{0D108BD9-81ED-4DB2-BD59-A6C34878D82A}">
                    <a16:rowId xmlns:a16="http://schemas.microsoft.com/office/drawing/2014/main" val="169900684"/>
                  </a:ext>
                </a:extLst>
              </a:tr>
              <a:tr h="427446">
                <a:tc>
                  <a:txBody>
                    <a:bodyPr/>
                    <a:lstStyle/>
                    <a:p>
                      <a:r>
                        <a:rPr lang="en-CH"/>
                        <a:t>pZ_w, pZ_m</a:t>
                      </a:r>
                    </a:p>
                  </a:txBody>
                  <a:tcPr>
                    <a:solidFill>
                      <a:srgbClr val="FFE769"/>
                    </a:solidFill>
                  </a:tcPr>
                </a:tc>
                <a:tc>
                  <a:txBody>
                    <a:bodyPr/>
                    <a:lstStyle/>
                    <a:p>
                      <a:r>
                        <a:rPr lang="en-GB" dirty="0"/>
                        <a:t>Egg survival probability</a:t>
                      </a:r>
                      <a:endParaRPr lang="en-CH" dirty="0"/>
                    </a:p>
                  </a:txBody>
                  <a:tcPr>
                    <a:solidFill>
                      <a:srgbClr val="FFE769"/>
                    </a:solidFill>
                  </a:tcPr>
                </a:tc>
                <a:tc>
                  <a:txBody>
                    <a:bodyPr/>
                    <a:lstStyle/>
                    <a:p>
                      <a:r>
                        <a:rPr lang="de-CH"/>
                        <a:t>0.4w, 0.55m</a:t>
                      </a:r>
                      <a:endParaRPr lang="en-CH"/>
                    </a:p>
                  </a:txBody>
                  <a:tcPr>
                    <a:solidFill>
                      <a:srgbClr val="FFE769"/>
                    </a:solidFill>
                  </a:tcPr>
                </a:tc>
                <a:extLst>
                  <a:ext uri="{0D108BD9-81ED-4DB2-BD59-A6C34878D82A}">
                    <a16:rowId xmlns:a16="http://schemas.microsoft.com/office/drawing/2014/main" val="3401183012"/>
                  </a:ext>
                </a:extLst>
              </a:tr>
              <a:tr h="427446">
                <a:tc>
                  <a:txBody>
                    <a:bodyPr/>
                    <a:lstStyle/>
                    <a:p>
                      <a:r>
                        <a:rPr lang="en-CH"/>
                        <a:t>mut_rate</a:t>
                      </a:r>
                    </a:p>
                  </a:txBody>
                  <a:tcPr>
                    <a:solidFill>
                      <a:srgbClr val="FFE769"/>
                    </a:solidFill>
                  </a:tcPr>
                </a:tc>
                <a:tc>
                  <a:txBody>
                    <a:bodyPr/>
                    <a:lstStyle/>
                    <a:p>
                      <a:r>
                        <a:rPr lang="en-GB" dirty="0"/>
                        <a:t>Mutation rate</a:t>
                      </a:r>
                      <a:endParaRPr lang="en-CH" dirty="0"/>
                    </a:p>
                  </a:txBody>
                  <a:tcPr>
                    <a:solidFill>
                      <a:srgbClr val="FFE769"/>
                    </a:solidFill>
                  </a:tcPr>
                </a:tc>
                <a:tc>
                  <a:txBody>
                    <a:bodyPr/>
                    <a:lstStyle/>
                    <a:p>
                      <a:r>
                        <a:rPr lang="de-CH"/>
                        <a:t>0-0.05</a:t>
                      </a:r>
                      <a:endParaRPr lang="en-CH"/>
                    </a:p>
                  </a:txBody>
                  <a:tcPr>
                    <a:solidFill>
                      <a:srgbClr val="FFE769"/>
                    </a:solidFill>
                  </a:tcPr>
                </a:tc>
                <a:extLst>
                  <a:ext uri="{0D108BD9-81ED-4DB2-BD59-A6C34878D82A}">
                    <a16:rowId xmlns:a16="http://schemas.microsoft.com/office/drawing/2014/main" val="3985367210"/>
                  </a:ext>
                </a:extLst>
              </a:tr>
              <a:tr h="427446">
                <a:tc>
                  <a:txBody>
                    <a:bodyPr/>
                    <a:lstStyle/>
                    <a:p>
                      <a:r>
                        <a:rPr lang="en-US"/>
                        <a:t>t_max</a:t>
                      </a:r>
                      <a:endParaRPr lang="en-CH"/>
                    </a:p>
                  </a:txBody>
                  <a:tcPr>
                    <a:solidFill>
                      <a:srgbClr val="FFE769"/>
                    </a:solidFill>
                  </a:tcPr>
                </a:tc>
                <a:tc>
                  <a:txBody>
                    <a:bodyPr/>
                    <a:lstStyle/>
                    <a:p>
                      <a:r>
                        <a:rPr lang="en-GB"/>
                        <a:t>Maximum generations simulated</a:t>
                      </a:r>
                      <a:endParaRPr lang="en-CH"/>
                    </a:p>
                  </a:txBody>
                  <a:tcPr>
                    <a:solidFill>
                      <a:srgbClr val="FFE769"/>
                    </a:solidFill>
                  </a:tcPr>
                </a:tc>
                <a:tc>
                  <a:txBody>
                    <a:bodyPr/>
                    <a:lstStyle/>
                    <a:p>
                      <a:r>
                        <a:rPr lang="de-CH" dirty="0"/>
                        <a:t>200</a:t>
                      </a:r>
                      <a:endParaRPr lang="en-CH" dirty="0"/>
                    </a:p>
                  </a:txBody>
                  <a:tcPr>
                    <a:solidFill>
                      <a:srgbClr val="FFE769"/>
                    </a:solidFill>
                  </a:tcPr>
                </a:tc>
                <a:extLst>
                  <a:ext uri="{0D108BD9-81ED-4DB2-BD59-A6C34878D82A}">
                    <a16:rowId xmlns:a16="http://schemas.microsoft.com/office/drawing/2014/main" val="249125655"/>
                  </a:ext>
                </a:extLst>
              </a:tr>
            </a:tbl>
          </a:graphicData>
        </a:graphic>
      </p:graphicFrame>
      <p:sp>
        <p:nvSpPr>
          <p:cNvPr id="5" name="Pfeil nach rechts 4">
            <a:extLst>
              <a:ext uri="{FF2B5EF4-FFF2-40B4-BE49-F238E27FC236}">
                <a16:creationId xmlns:a16="http://schemas.microsoft.com/office/drawing/2014/main" id="{9D7515A0-6914-2F0B-CB9E-8BA002E7B176}"/>
              </a:ext>
            </a:extLst>
          </p:cNvPr>
          <p:cNvSpPr/>
          <p:nvPr/>
        </p:nvSpPr>
        <p:spPr>
          <a:xfrm>
            <a:off x="2638729" y="2108511"/>
            <a:ext cx="2020711" cy="622762"/>
          </a:xfrm>
          <a:prstGeom prst="rightArrow">
            <a:avLst/>
          </a:prstGeom>
          <a:solidFill>
            <a:srgbClr val="FFE769"/>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de-CH">
                <a:solidFill>
                  <a:sysClr val="windowText" lastClr="000000"/>
                </a:solidFill>
              </a:rPr>
              <a:t>Mutation</a:t>
            </a:r>
          </a:p>
        </p:txBody>
      </p:sp>
      <p:sp>
        <p:nvSpPr>
          <p:cNvPr id="6" name="Foliennummernplatzhalter 5">
            <a:extLst>
              <a:ext uri="{FF2B5EF4-FFF2-40B4-BE49-F238E27FC236}">
                <a16:creationId xmlns:a16="http://schemas.microsoft.com/office/drawing/2014/main" id="{BB841C08-15B1-6F7E-4C03-5496ACDCE524}"/>
              </a:ext>
            </a:extLst>
          </p:cNvPr>
          <p:cNvSpPr>
            <a:spLocks noGrp="1"/>
          </p:cNvSpPr>
          <p:nvPr>
            <p:ph type="sldNum" sz="quarter" idx="12"/>
          </p:nvPr>
        </p:nvSpPr>
        <p:spPr/>
        <p:txBody>
          <a:bodyPr/>
          <a:lstStyle/>
          <a:p>
            <a:fld id="{AD036ABA-2983-EA40-A0BC-E355E1F2A4C5}" type="slidenum">
              <a:rPr lang="de-CH" smtClean="0"/>
              <a:t>4</a:t>
            </a:fld>
            <a:endParaRPr lang="de-CH"/>
          </a:p>
        </p:txBody>
      </p:sp>
      <p:pic>
        <p:nvPicPr>
          <p:cNvPr id="7" name="Content Placeholder 6">
            <a:extLst>
              <a:ext uri="{FF2B5EF4-FFF2-40B4-BE49-F238E27FC236}">
                <a16:creationId xmlns:a16="http://schemas.microsoft.com/office/drawing/2014/main" id="{23E82424-B222-7AEC-9A49-427CF12AF6FC}"/>
              </a:ext>
            </a:extLst>
          </p:cNvPr>
          <p:cNvPicPr>
            <a:picLocks noChangeAspect="1"/>
          </p:cNvPicPr>
          <p:nvPr/>
        </p:nvPicPr>
        <p:blipFill>
          <a:blip r:embed="rId3"/>
          <a:stretch>
            <a:fillRect/>
          </a:stretch>
        </p:blipFill>
        <p:spPr bwMode="auto">
          <a:xfrm>
            <a:off x="7811135" y="908697"/>
            <a:ext cx="3484272" cy="1956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20721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EA08CC-97D7-C242-3B4E-632C13EDFC25}"/>
              </a:ext>
            </a:extLst>
          </p:cNvPr>
          <p:cNvSpPr>
            <a:spLocks noGrp="1"/>
          </p:cNvSpPr>
          <p:nvPr>
            <p:ph type="title"/>
          </p:nvPr>
        </p:nvSpPr>
        <p:spPr>
          <a:xfrm>
            <a:off x="219785" y="64822"/>
            <a:ext cx="10359284" cy="645133"/>
          </a:xfrm>
        </p:spPr>
        <p:txBody>
          <a:bodyPr>
            <a:normAutofit/>
          </a:bodyPr>
          <a:lstStyle/>
          <a:p>
            <a:r>
              <a:rPr lang="de-CH" sz="2400"/>
              <a:t>Modeling the Life Cycle</a:t>
            </a:r>
          </a:p>
        </p:txBody>
      </p:sp>
      <p:sp>
        <p:nvSpPr>
          <p:cNvPr id="3" name="Foliennummernplatzhalter 2">
            <a:extLst>
              <a:ext uri="{FF2B5EF4-FFF2-40B4-BE49-F238E27FC236}">
                <a16:creationId xmlns:a16="http://schemas.microsoft.com/office/drawing/2014/main" id="{FA7EE59B-761E-B7DA-976C-756661065643}"/>
              </a:ext>
            </a:extLst>
          </p:cNvPr>
          <p:cNvSpPr>
            <a:spLocks noGrp="1"/>
          </p:cNvSpPr>
          <p:nvPr>
            <p:ph type="sldNum" sz="quarter" idx="12"/>
          </p:nvPr>
        </p:nvSpPr>
        <p:spPr/>
        <p:txBody>
          <a:bodyPr/>
          <a:lstStyle/>
          <a:p>
            <a:fld id="{AD036ABA-2983-EA40-A0BC-E355E1F2A4C5}" type="slidenum">
              <a:rPr lang="de-CH" smtClean="0"/>
              <a:t>5</a:t>
            </a:fld>
            <a:endParaRPr lang="de-CH"/>
          </a:p>
        </p:txBody>
      </p:sp>
      <p:pic>
        <p:nvPicPr>
          <p:cNvPr id="8" name="Grafik 7">
            <a:extLst>
              <a:ext uri="{FF2B5EF4-FFF2-40B4-BE49-F238E27FC236}">
                <a16:creationId xmlns:a16="http://schemas.microsoft.com/office/drawing/2014/main" id="{0415C050-1270-527C-15D5-C1482EE5AF49}"/>
              </a:ext>
            </a:extLst>
          </p:cNvPr>
          <p:cNvPicPr>
            <a:picLocks noChangeAspect="1"/>
          </p:cNvPicPr>
          <p:nvPr/>
        </p:nvPicPr>
        <p:blipFill>
          <a:blip r:embed="rId3"/>
          <a:stretch>
            <a:fillRect/>
          </a:stretch>
        </p:blipFill>
        <p:spPr>
          <a:xfrm>
            <a:off x="1897566" y="681037"/>
            <a:ext cx="8396868" cy="5945335"/>
          </a:xfrm>
          <a:prstGeom prst="rect">
            <a:avLst/>
          </a:prstGeom>
        </p:spPr>
      </p:pic>
      <p:sp>
        <p:nvSpPr>
          <p:cNvPr id="6" name="Rechteck 5">
            <a:extLst>
              <a:ext uri="{FF2B5EF4-FFF2-40B4-BE49-F238E27FC236}">
                <a16:creationId xmlns:a16="http://schemas.microsoft.com/office/drawing/2014/main" id="{F14FF57A-BA21-3C99-856B-044167C0BBC7}"/>
              </a:ext>
            </a:extLst>
          </p:cNvPr>
          <p:cNvSpPr/>
          <p:nvPr/>
        </p:nvSpPr>
        <p:spPr>
          <a:xfrm>
            <a:off x="7608341" y="6276157"/>
            <a:ext cx="2970728" cy="45552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CH"/>
          </a:p>
        </p:txBody>
      </p:sp>
    </p:spTree>
    <p:extLst>
      <p:ext uri="{BB962C8B-B14F-4D97-AF65-F5344CB8AC3E}">
        <p14:creationId xmlns:p14="http://schemas.microsoft.com/office/powerpoint/2010/main" val="95480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B96FC576-AE30-4C09-A12C-0582F2A6A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Grafik 8" descr="Ein Bild, das Text, Reihe, Diagramm, Schrift enthält.&#10;&#10;KI-generierte Inhalte können fehlerhaft sein.">
            <a:extLst>
              <a:ext uri="{FF2B5EF4-FFF2-40B4-BE49-F238E27FC236}">
                <a16:creationId xmlns:a16="http://schemas.microsoft.com/office/drawing/2014/main" id="{1C6AA346-0674-D70A-C70A-ADC70993FC28}"/>
              </a:ext>
            </a:extLst>
          </p:cNvPr>
          <p:cNvPicPr>
            <a:picLocks noChangeAspect="1"/>
          </p:cNvPicPr>
          <p:nvPr/>
        </p:nvPicPr>
        <p:blipFill>
          <a:blip r:embed="rId3"/>
          <a:srcRect t="4271" r="2" b="4684"/>
          <a:stretch>
            <a:fillRect/>
          </a:stretch>
        </p:blipFill>
        <p:spPr>
          <a:xfrm>
            <a:off x="5561076" y="98425"/>
            <a:ext cx="6099048" cy="3429000"/>
          </a:xfrm>
          <a:prstGeom prst="rect">
            <a:avLst/>
          </a:prstGeom>
        </p:spPr>
      </p:pic>
      <p:pic>
        <p:nvPicPr>
          <p:cNvPr id="17" name="Grafik 16" descr="Ein Bild, das Text, Reihe, Schrift, Diagramm enthält.&#10;&#10;KI-generierte Inhalte können fehlerhaft sein.">
            <a:extLst>
              <a:ext uri="{FF2B5EF4-FFF2-40B4-BE49-F238E27FC236}">
                <a16:creationId xmlns:a16="http://schemas.microsoft.com/office/drawing/2014/main" id="{273A6C4B-B954-7395-F2FD-E5EDAEBB1532}"/>
              </a:ext>
            </a:extLst>
          </p:cNvPr>
          <p:cNvPicPr>
            <a:picLocks noChangeAspect="1"/>
          </p:cNvPicPr>
          <p:nvPr/>
        </p:nvPicPr>
        <p:blipFill>
          <a:blip r:embed="rId4"/>
          <a:srcRect t="2248" r="2" b="6707"/>
          <a:stretch>
            <a:fillRect/>
          </a:stretch>
        </p:blipFill>
        <p:spPr>
          <a:xfrm>
            <a:off x="233149" y="3109912"/>
            <a:ext cx="6099048" cy="3429000"/>
          </a:xfrm>
          <a:prstGeom prst="rect">
            <a:avLst/>
          </a:prstGeom>
        </p:spPr>
      </p:pic>
      <p:sp>
        <p:nvSpPr>
          <p:cNvPr id="4" name="Foliennummernplatzhalter 3">
            <a:extLst>
              <a:ext uri="{FF2B5EF4-FFF2-40B4-BE49-F238E27FC236}">
                <a16:creationId xmlns:a16="http://schemas.microsoft.com/office/drawing/2014/main" id="{902AA0DA-7A50-EF80-16B3-34D2BFD2607E}"/>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AD036ABA-2983-EA40-A0BC-E355E1F2A4C5}" type="slidenum">
              <a:rPr lang="en-US">
                <a:solidFill>
                  <a:srgbClr val="FFFFFF"/>
                </a:solidFill>
              </a:rPr>
              <a:pPr>
                <a:spcAft>
                  <a:spcPts val="600"/>
                </a:spcAft>
              </a:pPr>
              <a:t>6</a:t>
            </a:fld>
            <a:endParaRPr lang="en-US">
              <a:solidFill>
                <a:srgbClr val="FFFFFF"/>
              </a:solidFill>
            </a:endParaRPr>
          </a:p>
        </p:txBody>
      </p:sp>
      <p:sp>
        <p:nvSpPr>
          <p:cNvPr id="11" name="AutoShape 14">
            <a:extLst>
              <a:ext uri="{FF2B5EF4-FFF2-40B4-BE49-F238E27FC236}">
                <a16:creationId xmlns:a16="http://schemas.microsoft.com/office/drawing/2014/main" id="{B586B582-0EB6-B38D-D572-71094BA8193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sp>
        <p:nvSpPr>
          <p:cNvPr id="15" name="AutoShape 22">
            <a:extLst>
              <a:ext uri="{FF2B5EF4-FFF2-40B4-BE49-F238E27FC236}">
                <a16:creationId xmlns:a16="http://schemas.microsoft.com/office/drawing/2014/main" id="{A15919F0-3F3C-AFAC-845D-23AE5CC54EC8}"/>
              </a:ext>
            </a:extLst>
          </p:cNvPr>
          <p:cNvSpPr>
            <a:spLocks noChangeAspect="1" noChangeArrowheads="1"/>
          </p:cNvSpPr>
          <p:nvPr/>
        </p:nvSpPr>
        <p:spPr bwMode="auto">
          <a:xfrm>
            <a:off x="3357349" y="690349"/>
            <a:ext cx="3043451" cy="30434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de-CH"/>
          </a:p>
        </p:txBody>
      </p:sp>
      <p:pic>
        <p:nvPicPr>
          <p:cNvPr id="12" name="Grafik 11" descr="Ein Bild, das Text, Reihe, Diagramm, Screenshot enthält.&#10;&#10;KI-generierte Inhalte können fehlerhaft sein.">
            <a:extLst>
              <a:ext uri="{FF2B5EF4-FFF2-40B4-BE49-F238E27FC236}">
                <a16:creationId xmlns:a16="http://schemas.microsoft.com/office/drawing/2014/main" id="{698B3EF1-5B4D-8B22-7980-AD1EBD8C815C}"/>
              </a:ext>
            </a:extLst>
          </p:cNvPr>
          <p:cNvPicPr>
            <a:picLocks noChangeAspect="1"/>
          </p:cNvPicPr>
          <p:nvPr/>
        </p:nvPicPr>
        <p:blipFill>
          <a:blip r:embed="rId5"/>
          <a:srcRect t="3415" r="2" b="5540"/>
          <a:stretch>
            <a:fillRect/>
          </a:stretch>
        </p:blipFill>
        <p:spPr>
          <a:xfrm>
            <a:off x="233149" y="44450"/>
            <a:ext cx="6099048" cy="3428990"/>
          </a:xfrm>
          <a:prstGeom prst="rect">
            <a:avLst/>
          </a:prstGeom>
        </p:spPr>
      </p:pic>
      <p:graphicFrame>
        <p:nvGraphicFramePr>
          <p:cNvPr id="20" name="Tabelle 19">
            <a:extLst>
              <a:ext uri="{FF2B5EF4-FFF2-40B4-BE49-F238E27FC236}">
                <a16:creationId xmlns:a16="http://schemas.microsoft.com/office/drawing/2014/main" id="{FB120770-07C8-A56B-BB9C-9240CFAFB180}"/>
              </a:ext>
            </a:extLst>
          </p:cNvPr>
          <p:cNvGraphicFramePr>
            <a:graphicFrameLocks noGrp="1"/>
          </p:cNvGraphicFramePr>
          <p:nvPr>
            <p:extLst>
              <p:ext uri="{D42A27DB-BD31-4B8C-83A1-F6EECF244321}">
                <p14:modId xmlns:p14="http://schemas.microsoft.com/office/powerpoint/2010/main" val="2815221118"/>
              </p:ext>
            </p:extLst>
          </p:nvPr>
        </p:nvGraphicFramePr>
        <p:xfrm>
          <a:off x="6332197" y="3861753"/>
          <a:ext cx="5478408" cy="2194560"/>
        </p:xfrm>
        <a:graphic>
          <a:graphicData uri="http://schemas.openxmlformats.org/drawingml/2006/table">
            <a:tbl>
              <a:tblPr firstRow="1" bandRow="1">
                <a:tableStyleId>{5940675A-B579-460E-94D1-54222C63F5DA}</a:tableStyleId>
              </a:tblPr>
              <a:tblGrid>
                <a:gridCol w="2180888">
                  <a:extLst>
                    <a:ext uri="{9D8B030D-6E8A-4147-A177-3AD203B41FA5}">
                      <a16:colId xmlns:a16="http://schemas.microsoft.com/office/drawing/2014/main" val="4025467776"/>
                    </a:ext>
                  </a:extLst>
                </a:gridCol>
                <a:gridCol w="1471384">
                  <a:extLst>
                    <a:ext uri="{9D8B030D-6E8A-4147-A177-3AD203B41FA5}">
                      <a16:colId xmlns:a16="http://schemas.microsoft.com/office/drawing/2014/main" val="1183492622"/>
                    </a:ext>
                  </a:extLst>
                </a:gridCol>
                <a:gridCol w="1826136">
                  <a:extLst>
                    <a:ext uri="{9D8B030D-6E8A-4147-A177-3AD203B41FA5}">
                      <a16:colId xmlns:a16="http://schemas.microsoft.com/office/drawing/2014/main" val="1226399433"/>
                    </a:ext>
                  </a:extLst>
                </a:gridCol>
              </a:tblGrid>
              <a:tr h="364943">
                <a:tc>
                  <a:txBody>
                    <a:bodyPr/>
                    <a:lstStyle/>
                    <a:p>
                      <a:r>
                        <a:rPr lang="de-CH"/>
                        <a:t>Parameters:</a:t>
                      </a:r>
                    </a:p>
                  </a:txBody>
                  <a:tcPr/>
                </a:tc>
                <a:tc>
                  <a:txBody>
                    <a:bodyPr/>
                    <a:lstStyle/>
                    <a:p>
                      <a:r>
                        <a:rPr lang="de-CH" err="1"/>
                        <a:t>wildtype</a:t>
                      </a:r>
                      <a:endParaRPr lang="de-CH"/>
                    </a:p>
                  </a:txBody>
                  <a:tcPr/>
                </a:tc>
                <a:tc>
                  <a:txBody>
                    <a:bodyPr/>
                    <a:lstStyle/>
                    <a:p>
                      <a:r>
                        <a:rPr lang="de-CH" err="1"/>
                        <a:t>mutant</a:t>
                      </a:r>
                      <a:endParaRPr lang="de-CH"/>
                    </a:p>
                  </a:txBody>
                  <a:tcPr/>
                </a:tc>
                <a:extLst>
                  <a:ext uri="{0D108BD9-81ED-4DB2-BD59-A6C34878D82A}">
                    <a16:rowId xmlns:a16="http://schemas.microsoft.com/office/drawing/2014/main" val="611400347"/>
                  </a:ext>
                </a:extLst>
              </a:tr>
              <a:tr h="364943">
                <a:tc>
                  <a:txBody>
                    <a:bodyPr/>
                    <a:lstStyle/>
                    <a:p>
                      <a:r>
                        <a:rPr lang="de-CH"/>
                        <a:t>initial </a:t>
                      </a:r>
                      <a:r>
                        <a:rPr lang="de-CH" err="1"/>
                        <a:t>population</a:t>
                      </a:r>
                      <a:endParaRPr lang="de-CH"/>
                    </a:p>
                  </a:txBody>
                  <a:tcPr/>
                </a:tc>
                <a:tc>
                  <a:txBody>
                    <a:bodyPr/>
                    <a:lstStyle/>
                    <a:p>
                      <a:r>
                        <a:rPr lang="de-CH"/>
                        <a:t>100</a:t>
                      </a:r>
                    </a:p>
                  </a:txBody>
                  <a:tcPr/>
                </a:tc>
                <a:tc>
                  <a:txBody>
                    <a:bodyPr/>
                    <a:lstStyle/>
                    <a:p>
                      <a:r>
                        <a:rPr lang="de-CH"/>
                        <a:t>50</a:t>
                      </a:r>
                    </a:p>
                  </a:txBody>
                  <a:tcPr/>
                </a:tc>
                <a:extLst>
                  <a:ext uri="{0D108BD9-81ED-4DB2-BD59-A6C34878D82A}">
                    <a16:rowId xmlns:a16="http://schemas.microsoft.com/office/drawing/2014/main" val="3946468305"/>
                  </a:ext>
                </a:extLst>
              </a:tr>
              <a:tr h="364943">
                <a:tc>
                  <a:txBody>
                    <a:bodyPr/>
                    <a:lstStyle/>
                    <a:p>
                      <a:r>
                        <a:rPr lang="de-CH" err="1"/>
                        <a:t>fecundity</a:t>
                      </a:r>
                      <a:endParaRPr lang="de-CH"/>
                    </a:p>
                  </a:txBody>
                  <a:tcPr/>
                </a:tc>
                <a:tc>
                  <a:txBody>
                    <a:bodyPr/>
                    <a:lstStyle/>
                    <a:p>
                      <a:r>
                        <a:rPr lang="de-CH"/>
                        <a:t>2</a:t>
                      </a:r>
                    </a:p>
                  </a:txBody>
                  <a:tcPr/>
                </a:tc>
                <a:tc>
                  <a:txBody>
                    <a:bodyPr/>
                    <a:lstStyle/>
                    <a:p>
                      <a:r>
                        <a:rPr lang="de-CH"/>
                        <a:t>2.5</a:t>
                      </a:r>
                    </a:p>
                  </a:txBody>
                  <a:tcPr/>
                </a:tc>
                <a:extLst>
                  <a:ext uri="{0D108BD9-81ED-4DB2-BD59-A6C34878D82A}">
                    <a16:rowId xmlns:a16="http://schemas.microsoft.com/office/drawing/2014/main" val="2287802074"/>
                  </a:ext>
                </a:extLst>
              </a:tr>
              <a:tr h="364943">
                <a:tc>
                  <a:txBody>
                    <a:bodyPr/>
                    <a:lstStyle/>
                    <a:p>
                      <a:r>
                        <a:rPr lang="de-CH" err="1"/>
                        <a:t>hatching</a:t>
                      </a:r>
                      <a:r>
                        <a:rPr lang="de-CH"/>
                        <a:t> rate</a:t>
                      </a:r>
                    </a:p>
                  </a:txBody>
                  <a:tcPr/>
                </a:tc>
                <a:tc>
                  <a:txBody>
                    <a:bodyPr/>
                    <a:lstStyle/>
                    <a:p>
                      <a:r>
                        <a:rPr lang="de-CH"/>
                        <a:t>0.5</a:t>
                      </a:r>
                    </a:p>
                  </a:txBody>
                  <a:tcPr/>
                </a:tc>
                <a:tc>
                  <a:txBody>
                    <a:bodyPr/>
                    <a:lstStyle/>
                    <a:p>
                      <a:r>
                        <a:rPr lang="de-CH"/>
                        <a:t>0.55</a:t>
                      </a:r>
                    </a:p>
                  </a:txBody>
                  <a:tcPr/>
                </a:tc>
                <a:extLst>
                  <a:ext uri="{0D108BD9-81ED-4DB2-BD59-A6C34878D82A}">
                    <a16:rowId xmlns:a16="http://schemas.microsoft.com/office/drawing/2014/main" val="890595372"/>
                  </a:ext>
                </a:extLst>
              </a:tr>
              <a:tr h="364943">
                <a:tc>
                  <a:txBody>
                    <a:bodyPr/>
                    <a:lstStyle/>
                    <a:p>
                      <a:r>
                        <a:rPr lang="de-CH" err="1"/>
                        <a:t>survival</a:t>
                      </a:r>
                      <a:r>
                        <a:rPr lang="de-CH"/>
                        <a:t> rate </a:t>
                      </a:r>
                    </a:p>
                  </a:txBody>
                  <a:tcPr/>
                </a:tc>
                <a:tc>
                  <a:txBody>
                    <a:bodyPr/>
                    <a:lstStyle/>
                    <a:p>
                      <a:r>
                        <a:rPr lang="de-CH"/>
                        <a:t>0.4</a:t>
                      </a:r>
                    </a:p>
                  </a:txBody>
                  <a:tcPr/>
                </a:tc>
                <a:tc>
                  <a:txBody>
                    <a:bodyPr/>
                    <a:lstStyle/>
                    <a:p>
                      <a:r>
                        <a:rPr lang="de-CH"/>
                        <a:t>0.55</a:t>
                      </a:r>
                    </a:p>
                  </a:txBody>
                  <a:tcPr/>
                </a:tc>
                <a:extLst>
                  <a:ext uri="{0D108BD9-81ED-4DB2-BD59-A6C34878D82A}">
                    <a16:rowId xmlns:a16="http://schemas.microsoft.com/office/drawing/2014/main" val="3665337699"/>
                  </a:ext>
                </a:extLst>
              </a:tr>
              <a:tr h="210379">
                <a:tc>
                  <a:txBody>
                    <a:bodyPr/>
                    <a:lstStyle/>
                    <a:p>
                      <a:r>
                        <a:rPr lang="de-CH" err="1"/>
                        <a:t>mutation</a:t>
                      </a:r>
                      <a:r>
                        <a:rPr lang="de-CH"/>
                        <a:t> rate</a:t>
                      </a:r>
                    </a:p>
                  </a:txBody>
                  <a:tcPr/>
                </a:tc>
                <a:tc gridSpan="2">
                  <a:txBody>
                    <a:bodyPr/>
                    <a:lstStyle/>
                    <a:p>
                      <a:r>
                        <a:rPr lang="de-CH"/>
                        <a:t>0.001</a:t>
                      </a:r>
                    </a:p>
                  </a:txBody>
                  <a:tcPr/>
                </a:tc>
                <a:tc hMerge="1">
                  <a:txBody>
                    <a:bodyPr/>
                    <a:lstStyle/>
                    <a:p>
                      <a:endParaRPr lang="de-CH"/>
                    </a:p>
                  </a:txBody>
                  <a:tcPr/>
                </a:tc>
                <a:extLst>
                  <a:ext uri="{0D108BD9-81ED-4DB2-BD59-A6C34878D82A}">
                    <a16:rowId xmlns:a16="http://schemas.microsoft.com/office/drawing/2014/main" val="2023240453"/>
                  </a:ext>
                </a:extLst>
              </a:tr>
            </a:tbl>
          </a:graphicData>
        </a:graphic>
      </p:graphicFrame>
    </p:spTree>
    <p:extLst>
      <p:ext uri="{BB962C8B-B14F-4D97-AF65-F5344CB8AC3E}">
        <p14:creationId xmlns:p14="http://schemas.microsoft.com/office/powerpoint/2010/main" val="935192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3078D6-2FA4-2FC1-53E2-295316444EB0}"/>
              </a:ext>
            </a:extLst>
          </p:cNvPr>
          <p:cNvSpPr>
            <a:spLocks noGrp="1"/>
          </p:cNvSpPr>
          <p:nvPr>
            <p:ph type="title"/>
          </p:nvPr>
        </p:nvSpPr>
        <p:spPr>
          <a:xfrm>
            <a:off x="838200" y="365125"/>
            <a:ext cx="10515600" cy="647597"/>
          </a:xfrm>
        </p:spPr>
        <p:txBody>
          <a:bodyPr>
            <a:normAutofit/>
          </a:bodyPr>
          <a:lstStyle/>
          <a:p>
            <a:r>
              <a:rPr lang="de-CH" sz="3200"/>
              <a:t>Mutation Rate </a:t>
            </a:r>
            <a:r>
              <a:rPr lang="de-CH" sz="3200" err="1"/>
              <a:t>does</a:t>
            </a:r>
            <a:r>
              <a:rPr lang="de-CH" sz="3200"/>
              <a:t> not matter!</a:t>
            </a:r>
          </a:p>
        </p:txBody>
      </p:sp>
      <p:sp>
        <p:nvSpPr>
          <p:cNvPr id="4" name="Foliennummernplatzhalter 3">
            <a:extLst>
              <a:ext uri="{FF2B5EF4-FFF2-40B4-BE49-F238E27FC236}">
                <a16:creationId xmlns:a16="http://schemas.microsoft.com/office/drawing/2014/main" id="{A7F46009-3A5A-3B18-F8C5-88718B4DDCDD}"/>
              </a:ext>
            </a:extLst>
          </p:cNvPr>
          <p:cNvSpPr>
            <a:spLocks noGrp="1"/>
          </p:cNvSpPr>
          <p:nvPr>
            <p:ph type="sldNum" sz="quarter" idx="12"/>
          </p:nvPr>
        </p:nvSpPr>
        <p:spPr/>
        <p:txBody>
          <a:bodyPr/>
          <a:lstStyle/>
          <a:p>
            <a:fld id="{AD036ABA-2983-EA40-A0BC-E355E1F2A4C5}" type="slidenum">
              <a:rPr lang="de-CH" smtClean="0"/>
              <a:t>7</a:t>
            </a:fld>
            <a:endParaRPr lang="de-CH"/>
          </a:p>
        </p:txBody>
      </p:sp>
      <p:pic>
        <p:nvPicPr>
          <p:cNvPr id="8" name="Content Placeholder 7">
            <a:extLst>
              <a:ext uri="{FF2B5EF4-FFF2-40B4-BE49-F238E27FC236}">
                <a16:creationId xmlns:a16="http://schemas.microsoft.com/office/drawing/2014/main" id="{FC68AC15-584C-0E27-4216-58E73D946060}"/>
              </a:ext>
            </a:extLst>
          </p:cNvPr>
          <p:cNvPicPr>
            <a:picLocks noGrp="1" noChangeAspect="1"/>
          </p:cNvPicPr>
          <p:nvPr>
            <p:ph idx="1"/>
          </p:nvPr>
        </p:nvPicPr>
        <p:blipFill>
          <a:blip r:embed="rId3"/>
          <a:stretch>
            <a:fillRect/>
          </a:stretch>
        </p:blipFill>
        <p:spPr>
          <a:xfrm>
            <a:off x="395891" y="1012722"/>
            <a:ext cx="6522091" cy="4032684"/>
          </a:xfrm>
          <a:prstGeom prst="rect">
            <a:avLst/>
          </a:prstGeom>
        </p:spPr>
      </p:pic>
      <p:graphicFrame>
        <p:nvGraphicFramePr>
          <p:cNvPr id="9" name="Tabelle 8">
            <a:extLst>
              <a:ext uri="{FF2B5EF4-FFF2-40B4-BE49-F238E27FC236}">
                <a16:creationId xmlns:a16="http://schemas.microsoft.com/office/drawing/2014/main" id="{1153FE95-CA5D-88DC-3B58-095009032646}"/>
              </a:ext>
            </a:extLst>
          </p:cNvPr>
          <p:cNvGraphicFramePr>
            <a:graphicFrameLocks noGrp="1"/>
          </p:cNvGraphicFramePr>
          <p:nvPr>
            <p:extLst>
              <p:ext uri="{D42A27DB-BD31-4B8C-83A1-F6EECF244321}">
                <p14:modId xmlns:p14="http://schemas.microsoft.com/office/powerpoint/2010/main" val="460853130"/>
              </p:ext>
            </p:extLst>
          </p:nvPr>
        </p:nvGraphicFramePr>
        <p:xfrm>
          <a:off x="6295291" y="4136536"/>
          <a:ext cx="5500818" cy="2219814"/>
        </p:xfrm>
        <a:graphic>
          <a:graphicData uri="http://schemas.openxmlformats.org/drawingml/2006/table">
            <a:tbl>
              <a:tblPr firstRow="1" bandRow="1">
                <a:tableStyleId>{5940675A-B579-460E-94D1-54222C63F5DA}</a:tableStyleId>
              </a:tblPr>
              <a:tblGrid>
                <a:gridCol w="2189809">
                  <a:extLst>
                    <a:ext uri="{9D8B030D-6E8A-4147-A177-3AD203B41FA5}">
                      <a16:colId xmlns:a16="http://schemas.microsoft.com/office/drawing/2014/main" val="4025467776"/>
                    </a:ext>
                  </a:extLst>
                </a:gridCol>
                <a:gridCol w="1477403">
                  <a:extLst>
                    <a:ext uri="{9D8B030D-6E8A-4147-A177-3AD203B41FA5}">
                      <a16:colId xmlns:a16="http://schemas.microsoft.com/office/drawing/2014/main" val="1183492622"/>
                    </a:ext>
                  </a:extLst>
                </a:gridCol>
                <a:gridCol w="1833606">
                  <a:extLst>
                    <a:ext uri="{9D8B030D-6E8A-4147-A177-3AD203B41FA5}">
                      <a16:colId xmlns:a16="http://schemas.microsoft.com/office/drawing/2014/main" val="1226399433"/>
                    </a:ext>
                  </a:extLst>
                </a:gridCol>
              </a:tblGrid>
              <a:tr h="369969">
                <a:tc>
                  <a:txBody>
                    <a:bodyPr/>
                    <a:lstStyle/>
                    <a:p>
                      <a:r>
                        <a:rPr lang="de-CH"/>
                        <a:t>Parameters:</a:t>
                      </a:r>
                    </a:p>
                  </a:txBody>
                  <a:tcPr/>
                </a:tc>
                <a:tc>
                  <a:txBody>
                    <a:bodyPr/>
                    <a:lstStyle/>
                    <a:p>
                      <a:r>
                        <a:rPr lang="de-CH" err="1"/>
                        <a:t>wildtype</a:t>
                      </a:r>
                      <a:endParaRPr lang="de-CH"/>
                    </a:p>
                  </a:txBody>
                  <a:tcPr/>
                </a:tc>
                <a:tc>
                  <a:txBody>
                    <a:bodyPr/>
                    <a:lstStyle/>
                    <a:p>
                      <a:r>
                        <a:rPr lang="de-CH" err="1"/>
                        <a:t>mutant</a:t>
                      </a:r>
                      <a:endParaRPr lang="de-CH"/>
                    </a:p>
                  </a:txBody>
                  <a:tcPr/>
                </a:tc>
                <a:extLst>
                  <a:ext uri="{0D108BD9-81ED-4DB2-BD59-A6C34878D82A}">
                    <a16:rowId xmlns:a16="http://schemas.microsoft.com/office/drawing/2014/main" val="611400347"/>
                  </a:ext>
                </a:extLst>
              </a:tr>
              <a:tr h="369969">
                <a:tc>
                  <a:txBody>
                    <a:bodyPr/>
                    <a:lstStyle/>
                    <a:p>
                      <a:r>
                        <a:rPr lang="de-CH"/>
                        <a:t>initial </a:t>
                      </a:r>
                      <a:r>
                        <a:rPr lang="de-CH" err="1"/>
                        <a:t>population</a:t>
                      </a:r>
                      <a:endParaRPr lang="de-CH"/>
                    </a:p>
                  </a:txBody>
                  <a:tcPr/>
                </a:tc>
                <a:tc>
                  <a:txBody>
                    <a:bodyPr/>
                    <a:lstStyle/>
                    <a:p>
                      <a:r>
                        <a:rPr lang="de-CH"/>
                        <a:t>100</a:t>
                      </a:r>
                    </a:p>
                  </a:txBody>
                  <a:tcPr/>
                </a:tc>
                <a:tc>
                  <a:txBody>
                    <a:bodyPr/>
                    <a:lstStyle/>
                    <a:p>
                      <a:r>
                        <a:rPr lang="de-CH"/>
                        <a:t>50</a:t>
                      </a:r>
                    </a:p>
                  </a:txBody>
                  <a:tcPr/>
                </a:tc>
                <a:extLst>
                  <a:ext uri="{0D108BD9-81ED-4DB2-BD59-A6C34878D82A}">
                    <a16:rowId xmlns:a16="http://schemas.microsoft.com/office/drawing/2014/main" val="3946468305"/>
                  </a:ext>
                </a:extLst>
              </a:tr>
              <a:tr h="369969">
                <a:tc>
                  <a:txBody>
                    <a:bodyPr/>
                    <a:lstStyle/>
                    <a:p>
                      <a:r>
                        <a:rPr lang="de-CH" err="1"/>
                        <a:t>fecundity</a:t>
                      </a:r>
                      <a:endParaRPr lang="de-CH"/>
                    </a:p>
                  </a:txBody>
                  <a:tcPr/>
                </a:tc>
                <a:tc>
                  <a:txBody>
                    <a:bodyPr/>
                    <a:lstStyle/>
                    <a:p>
                      <a:r>
                        <a:rPr lang="de-CH"/>
                        <a:t>2</a:t>
                      </a:r>
                    </a:p>
                  </a:txBody>
                  <a:tcPr/>
                </a:tc>
                <a:tc>
                  <a:txBody>
                    <a:bodyPr/>
                    <a:lstStyle/>
                    <a:p>
                      <a:r>
                        <a:rPr lang="de-CH"/>
                        <a:t>2.5</a:t>
                      </a:r>
                    </a:p>
                  </a:txBody>
                  <a:tcPr/>
                </a:tc>
                <a:extLst>
                  <a:ext uri="{0D108BD9-81ED-4DB2-BD59-A6C34878D82A}">
                    <a16:rowId xmlns:a16="http://schemas.microsoft.com/office/drawing/2014/main" val="2287802074"/>
                  </a:ext>
                </a:extLst>
              </a:tr>
              <a:tr h="369969">
                <a:tc>
                  <a:txBody>
                    <a:bodyPr/>
                    <a:lstStyle/>
                    <a:p>
                      <a:r>
                        <a:rPr lang="de-CH" err="1"/>
                        <a:t>hatching</a:t>
                      </a:r>
                      <a:r>
                        <a:rPr lang="de-CH"/>
                        <a:t> rate</a:t>
                      </a:r>
                    </a:p>
                  </a:txBody>
                  <a:tcPr/>
                </a:tc>
                <a:tc>
                  <a:txBody>
                    <a:bodyPr/>
                    <a:lstStyle/>
                    <a:p>
                      <a:r>
                        <a:rPr lang="de-CH"/>
                        <a:t>0.5</a:t>
                      </a:r>
                    </a:p>
                  </a:txBody>
                  <a:tcPr/>
                </a:tc>
                <a:tc>
                  <a:txBody>
                    <a:bodyPr/>
                    <a:lstStyle/>
                    <a:p>
                      <a:r>
                        <a:rPr lang="de-CH"/>
                        <a:t>0.55</a:t>
                      </a:r>
                    </a:p>
                  </a:txBody>
                  <a:tcPr/>
                </a:tc>
                <a:extLst>
                  <a:ext uri="{0D108BD9-81ED-4DB2-BD59-A6C34878D82A}">
                    <a16:rowId xmlns:a16="http://schemas.microsoft.com/office/drawing/2014/main" val="890595372"/>
                  </a:ext>
                </a:extLst>
              </a:tr>
              <a:tr h="369969">
                <a:tc>
                  <a:txBody>
                    <a:bodyPr/>
                    <a:lstStyle/>
                    <a:p>
                      <a:r>
                        <a:rPr lang="de-CH" err="1"/>
                        <a:t>survival</a:t>
                      </a:r>
                      <a:r>
                        <a:rPr lang="de-CH"/>
                        <a:t> rate </a:t>
                      </a:r>
                    </a:p>
                  </a:txBody>
                  <a:tcPr/>
                </a:tc>
                <a:tc>
                  <a:txBody>
                    <a:bodyPr/>
                    <a:lstStyle/>
                    <a:p>
                      <a:r>
                        <a:rPr lang="de-CH"/>
                        <a:t>0.4</a:t>
                      </a:r>
                    </a:p>
                  </a:txBody>
                  <a:tcPr/>
                </a:tc>
                <a:tc>
                  <a:txBody>
                    <a:bodyPr/>
                    <a:lstStyle/>
                    <a:p>
                      <a:r>
                        <a:rPr lang="de-CH"/>
                        <a:t>0.55</a:t>
                      </a:r>
                    </a:p>
                  </a:txBody>
                  <a:tcPr/>
                </a:tc>
                <a:extLst>
                  <a:ext uri="{0D108BD9-81ED-4DB2-BD59-A6C34878D82A}">
                    <a16:rowId xmlns:a16="http://schemas.microsoft.com/office/drawing/2014/main" val="3665337699"/>
                  </a:ext>
                </a:extLst>
              </a:tr>
              <a:tr h="369969">
                <a:tc>
                  <a:txBody>
                    <a:bodyPr/>
                    <a:lstStyle/>
                    <a:p>
                      <a:r>
                        <a:rPr lang="de-CH" err="1"/>
                        <a:t>mutation</a:t>
                      </a:r>
                      <a:r>
                        <a:rPr lang="de-CH"/>
                        <a:t> rate</a:t>
                      </a:r>
                    </a:p>
                  </a:txBody>
                  <a:tcPr/>
                </a:tc>
                <a:tc gridSpan="2">
                  <a:txBody>
                    <a:bodyPr/>
                    <a:lstStyle/>
                    <a:p>
                      <a:r>
                        <a:rPr lang="de-CH"/>
                        <a:t>1e-10 – 0.1</a:t>
                      </a:r>
                    </a:p>
                  </a:txBody>
                  <a:tcPr/>
                </a:tc>
                <a:tc hMerge="1">
                  <a:txBody>
                    <a:bodyPr/>
                    <a:lstStyle/>
                    <a:p>
                      <a:endParaRPr lang="de-CH"/>
                    </a:p>
                  </a:txBody>
                  <a:tcPr/>
                </a:tc>
                <a:extLst>
                  <a:ext uri="{0D108BD9-81ED-4DB2-BD59-A6C34878D82A}">
                    <a16:rowId xmlns:a16="http://schemas.microsoft.com/office/drawing/2014/main" val="2023240453"/>
                  </a:ext>
                </a:extLst>
              </a:tr>
            </a:tbl>
          </a:graphicData>
        </a:graphic>
      </p:graphicFrame>
      <p:pic>
        <p:nvPicPr>
          <p:cNvPr id="3" name="Picture 4" descr="Hoverflies | Life 4 Pollinators">
            <a:extLst>
              <a:ext uri="{FF2B5EF4-FFF2-40B4-BE49-F238E27FC236}">
                <a16:creationId xmlns:a16="http://schemas.microsoft.com/office/drawing/2014/main" id="{686FF3FB-16E6-A00E-A421-6A451E0E7D3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733" t="10409" r="8059"/>
          <a:stretch>
            <a:fillRect/>
          </a:stretch>
        </p:blipFill>
        <p:spPr bwMode="auto">
          <a:xfrm rot="18791718">
            <a:off x="7677049" y="284098"/>
            <a:ext cx="1432854" cy="1489112"/>
          </a:xfrm>
          <a:prstGeom prst="rect">
            <a:avLst/>
          </a:prstGeom>
          <a:noFill/>
          <a:extLst>
            <a:ext uri="{909E8E84-426E-40DD-AFC4-6F175D3DCCD1}">
              <a14:hiddenFill xmlns:a14="http://schemas.microsoft.com/office/drawing/2010/main">
                <a:solidFill>
                  <a:srgbClr val="FFFFFF"/>
                </a:solidFill>
              </a14:hiddenFill>
            </a:ext>
          </a:extLst>
        </p:spPr>
      </p:pic>
      <p:sp>
        <p:nvSpPr>
          <p:cNvPr id="6" name="Freihandform 5">
            <a:extLst>
              <a:ext uri="{FF2B5EF4-FFF2-40B4-BE49-F238E27FC236}">
                <a16:creationId xmlns:a16="http://schemas.microsoft.com/office/drawing/2014/main" id="{B3D69324-D71F-3148-3EF1-1F770FDD8644}"/>
              </a:ext>
            </a:extLst>
          </p:cNvPr>
          <p:cNvSpPr/>
          <p:nvPr/>
        </p:nvSpPr>
        <p:spPr>
          <a:xfrm>
            <a:off x="8762999" y="1333500"/>
            <a:ext cx="3475419" cy="3048000"/>
          </a:xfrm>
          <a:custGeom>
            <a:avLst/>
            <a:gdLst>
              <a:gd name="connsiteX0" fmla="*/ 2997200 w 2997200"/>
              <a:gd name="connsiteY0" fmla="*/ 1816100 h 1816100"/>
              <a:gd name="connsiteX1" fmla="*/ 2197100 w 2997200"/>
              <a:gd name="connsiteY1" fmla="*/ 685800 h 1816100"/>
              <a:gd name="connsiteX2" fmla="*/ 1701800 w 2997200"/>
              <a:gd name="connsiteY2" fmla="*/ 1092200 h 1816100"/>
              <a:gd name="connsiteX3" fmla="*/ 0 w 2997200"/>
              <a:gd name="connsiteY3" fmla="*/ 0 h 1816100"/>
            </a:gdLst>
            <a:ahLst/>
            <a:cxnLst>
              <a:cxn ang="0">
                <a:pos x="connsiteX0" y="connsiteY0"/>
              </a:cxn>
              <a:cxn ang="0">
                <a:pos x="connsiteX1" y="connsiteY1"/>
              </a:cxn>
              <a:cxn ang="0">
                <a:pos x="connsiteX2" y="connsiteY2"/>
              </a:cxn>
              <a:cxn ang="0">
                <a:pos x="connsiteX3" y="connsiteY3"/>
              </a:cxn>
            </a:cxnLst>
            <a:rect l="l" t="t" r="r" b="b"/>
            <a:pathLst>
              <a:path w="2997200" h="1816100">
                <a:moveTo>
                  <a:pt x="2997200" y="1816100"/>
                </a:moveTo>
                <a:cubicBezTo>
                  <a:pt x="2705100" y="1311275"/>
                  <a:pt x="2413000" y="806450"/>
                  <a:pt x="2197100" y="685800"/>
                </a:cubicBezTo>
                <a:cubicBezTo>
                  <a:pt x="1981200" y="565150"/>
                  <a:pt x="2067983" y="1206500"/>
                  <a:pt x="1701800" y="1092200"/>
                </a:cubicBezTo>
                <a:cubicBezTo>
                  <a:pt x="1335617" y="977900"/>
                  <a:pt x="667808" y="488950"/>
                  <a:pt x="0" y="0"/>
                </a:cubicBezTo>
              </a:path>
            </a:pathLst>
          </a:custGeom>
          <a:noFill/>
          <a:ln w="19050" cap="flat" cmpd="sng" algn="ctr">
            <a:solidFill>
              <a:srgbClr val="FFC000"/>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de-CH"/>
          </a:p>
        </p:txBody>
      </p:sp>
    </p:spTree>
    <p:extLst>
      <p:ext uri="{BB962C8B-B14F-4D97-AF65-F5344CB8AC3E}">
        <p14:creationId xmlns:p14="http://schemas.microsoft.com/office/powerpoint/2010/main" val="894117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A66A3E-186F-285C-9DC4-18DA367E14BA}"/>
              </a:ext>
            </a:extLst>
          </p:cNvPr>
          <p:cNvSpPr>
            <a:spLocks noGrp="1"/>
          </p:cNvSpPr>
          <p:nvPr>
            <p:ph type="title"/>
          </p:nvPr>
        </p:nvSpPr>
        <p:spPr>
          <a:xfrm>
            <a:off x="1190625" y="-384810"/>
            <a:ext cx="10515600" cy="1325563"/>
          </a:xfrm>
        </p:spPr>
        <p:txBody>
          <a:bodyPr>
            <a:normAutofit/>
          </a:bodyPr>
          <a:lstStyle/>
          <a:p>
            <a:r>
              <a:rPr lang="de-CH"/>
              <a:t> </a:t>
            </a:r>
          </a:p>
        </p:txBody>
      </p:sp>
      <p:pic>
        <p:nvPicPr>
          <p:cNvPr id="5" name="Inhaltsplatzhalter 4" descr="Ein Bild, das Text, Reihe, Diagramm, Screenshot enthält.&#10;&#10;KI-generierte Inhalte können fehlerhaft sein.">
            <a:extLst>
              <a:ext uri="{FF2B5EF4-FFF2-40B4-BE49-F238E27FC236}">
                <a16:creationId xmlns:a16="http://schemas.microsoft.com/office/drawing/2014/main" id="{26968C8E-723E-9261-42A2-56381753A8A0}"/>
              </a:ext>
            </a:extLst>
          </p:cNvPr>
          <p:cNvPicPr>
            <a:picLocks noGrp="1" noChangeAspect="1"/>
          </p:cNvPicPr>
          <p:nvPr>
            <p:ph idx="1"/>
          </p:nvPr>
        </p:nvPicPr>
        <p:blipFill>
          <a:blip r:embed="rId3"/>
          <a:stretch>
            <a:fillRect/>
          </a:stretch>
        </p:blipFill>
        <p:spPr>
          <a:xfrm>
            <a:off x="5171146" y="595711"/>
            <a:ext cx="6468485" cy="4224531"/>
          </a:xfrm>
        </p:spPr>
      </p:pic>
      <p:sp>
        <p:nvSpPr>
          <p:cNvPr id="3" name="Foliennummernplatzhalter 2">
            <a:extLst>
              <a:ext uri="{FF2B5EF4-FFF2-40B4-BE49-F238E27FC236}">
                <a16:creationId xmlns:a16="http://schemas.microsoft.com/office/drawing/2014/main" id="{CA68602E-19EB-DA7A-E8E1-7F3C3E013E85}"/>
              </a:ext>
            </a:extLst>
          </p:cNvPr>
          <p:cNvSpPr>
            <a:spLocks noGrp="1"/>
          </p:cNvSpPr>
          <p:nvPr>
            <p:ph type="sldNum" sz="quarter" idx="12"/>
          </p:nvPr>
        </p:nvSpPr>
        <p:spPr/>
        <p:txBody>
          <a:bodyPr/>
          <a:lstStyle/>
          <a:p>
            <a:fld id="{AD036ABA-2983-EA40-A0BC-E355E1F2A4C5}" type="slidenum">
              <a:rPr lang="de-CH" smtClean="0"/>
              <a:t>8</a:t>
            </a:fld>
            <a:endParaRPr lang="de-CH"/>
          </a:p>
        </p:txBody>
      </p:sp>
      <p:pic>
        <p:nvPicPr>
          <p:cNvPr id="6" name="Grafik 5" descr="Ein Bild, das Text, Diagramm, Reihe, Screenshot enthält.&#10;&#10;KI-generierte Inhalte können fehlerhaft sein.">
            <a:extLst>
              <a:ext uri="{FF2B5EF4-FFF2-40B4-BE49-F238E27FC236}">
                <a16:creationId xmlns:a16="http://schemas.microsoft.com/office/drawing/2014/main" id="{F2387239-D392-73DB-13F4-C8EB50878592}"/>
              </a:ext>
            </a:extLst>
          </p:cNvPr>
          <p:cNvPicPr>
            <a:picLocks noChangeAspect="1"/>
          </p:cNvPicPr>
          <p:nvPr/>
        </p:nvPicPr>
        <p:blipFill>
          <a:blip r:embed="rId4"/>
          <a:stretch>
            <a:fillRect/>
          </a:stretch>
        </p:blipFill>
        <p:spPr>
          <a:xfrm>
            <a:off x="809883" y="570311"/>
            <a:ext cx="5261851" cy="4262631"/>
          </a:xfrm>
          <a:prstGeom prst="rect">
            <a:avLst/>
          </a:prstGeom>
        </p:spPr>
      </p:pic>
      <p:graphicFrame>
        <p:nvGraphicFramePr>
          <p:cNvPr id="8" name="Tabelle 7">
            <a:extLst>
              <a:ext uri="{FF2B5EF4-FFF2-40B4-BE49-F238E27FC236}">
                <a16:creationId xmlns:a16="http://schemas.microsoft.com/office/drawing/2014/main" id="{A8524B80-9C53-5787-D15B-47B9ADEE2BA8}"/>
              </a:ext>
            </a:extLst>
          </p:cNvPr>
          <p:cNvGraphicFramePr>
            <a:graphicFrameLocks noGrp="1"/>
          </p:cNvGraphicFramePr>
          <p:nvPr>
            <p:extLst>
              <p:ext uri="{D42A27DB-BD31-4B8C-83A1-F6EECF244321}">
                <p14:modId xmlns:p14="http://schemas.microsoft.com/office/powerpoint/2010/main" val="3312407857"/>
              </p:ext>
            </p:extLst>
          </p:nvPr>
        </p:nvGraphicFramePr>
        <p:xfrm>
          <a:off x="4231912" y="4716123"/>
          <a:ext cx="3776711" cy="2068852"/>
        </p:xfrm>
        <a:graphic>
          <a:graphicData uri="http://schemas.openxmlformats.org/drawingml/2006/table">
            <a:tbl>
              <a:tblPr firstRow="1" bandRow="1">
                <a:tableStyleId>{5940675A-B579-460E-94D1-54222C63F5DA}</a:tableStyleId>
              </a:tblPr>
              <a:tblGrid>
                <a:gridCol w="1419270">
                  <a:extLst>
                    <a:ext uri="{9D8B030D-6E8A-4147-A177-3AD203B41FA5}">
                      <a16:colId xmlns:a16="http://schemas.microsoft.com/office/drawing/2014/main" val="4025467776"/>
                    </a:ext>
                  </a:extLst>
                </a:gridCol>
                <a:gridCol w="1058694">
                  <a:extLst>
                    <a:ext uri="{9D8B030D-6E8A-4147-A177-3AD203B41FA5}">
                      <a16:colId xmlns:a16="http://schemas.microsoft.com/office/drawing/2014/main" val="1183492622"/>
                    </a:ext>
                  </a:extLst>
                </a:gridCol>
                <a:gridCol w="1298747">
                  <a:extLst>
                    <a:ext uri="{9D8B030D-6E8A-4147-A177-3AD203B41FA5}">
                      <a16:colId xmlns:a16="http://schemas.microsoft.com/office/drawing/2014/main" val="1226399433"/>
                    </a:ext>
                  </a:extLst>
                </a:gridCol>
              </a:tblGrid>
              <a:tr h="273380">
                <a:tc>
                  <a:txBody>
                    <a:bodyPr/>
                    <a:lstStyle/>
                    <a:p>
                      <a:r>
                        <a:rPr lang="de-CH" sz="1500"/>
                        <a:t>Parameters:</a:t>
                      </a:r>
                    </a:p>
                  </a:txBody>
                  <a:tcPr/>
                </a:tc>
                <a:tc>
                  <a:txBody>
                    <a:bodyPr/>
                    <a:lstStyle/>
                    <a:p>
                      <a:r>
                        <a:rPr lang="de-CH" sz="1500"/>
                        <a:t>wildtype</a:t>
                      </a:r>
                    </a:p>
                  </a:txBody>
                  <a:tcPr/>
                </a:tc>
                <a:tc>
                  <a:txBody>
                    <a:bodyPr/>
                    <a:lstStyle/>
                    <a:p>
                      <a:r>
                        <a:rPr lang="de-CH" sz="1500"/>
                        <a:t>mutant</a:t>
                      </a:r>
                    </a:p>
                  </a:txBody>
                  <a:tcPr/>
                </a:tc>
                <a:extLst>
                  <a:ext uri="{0D108BD9-81ED-4DB2-BD59-A6C34878D82A}">
                    <a16:rowId xmlns:a16="http://schemas.microsoft.com/office/drawing/2014/main" val="611400347"/>
                  </a:ext>
                </a:extLst>
              </a:tr>
              <a:tr h="273380">
                <a:tc>
                  <a:txBody>
                    <a:bodyPr/>
                    <a:lstStyle/>
                    <a:p>
                      <a:r>
                        <a:rPr lang="de-CH" sz="1500"/>
                        <a:t>initial pop.</a:t>
                      </a:r>
                    </a:p>
                  </a:txBody>
                  <a:tcPr/>
                </a:tc>
                <a:tc>
                  <a:txBody>
                    <a:bodyPr/>
                    <a:lstStyle/>
                    <a:p>
                      <a:r>
                        <a:rPr lang="de-CH" sz="1500"/>
                        <a:t>100</a:t>
                      </a:r>
                    </a:p>
                  </a:txBody>
                  <a:tcPr/>
                </a:tc>
                <a:tc>
                  <a:txBody>
                    <a:bodyPr/>
                    <a:lstStyle/>
                    <a:p>
                      <a:r>
                        <a:rPr lang="de-CH" sz="1500"/>
                        <a:t>50</a:t>
                      </a:r>
                    </a:p>
                  </a:txBody>
                  <a:tcPr/>
                </a:tc>
                <a:extLst>
                  <a:ext uri="{0D108BD9-81ED-4DB2-BD59-A6C34878D82A}">
                    <a16:rowId xmlns:a16="http://schemas.microsoft.com/office/drawing/2014/main" val="3946468305"/>
                  </a:ext>
                </a:extLst>
              </a:tr>
              <a:tr h="273380">
                <a:tc>
                  <a:txBody>
                    <a:bodyPr/>
                    <a:lstStyle/>
                    <a:p>
                      <a:r>
                        <a:rPr lang="de-CH" sz="1500"/>
                        <a:t>fecundity</a:t>
                      </a:r>
                    </a:p>
                  </a:txBody>
                  <a:tcPr/>
                </a:tc>
                <a:tc>
                  <a:txBody>
                    <a:bodyPr/>
                    <a:lstStyle/>
                    <a:p>
                      <a:r>
                        <a:rPr lang="de-CH" sz="1500"/>
                        <a:t>2</a:t>
                      </a:r>
                    </a:p>
                  </a:txBody>
                  <a:tcPr/>
                </a:tc>
                <a:tc>
                  <a:txBody>
                    <a:bodyPr/>
                    <a:lstStyle/>
                    <a:p>
                      <a:r>
                        <a:rPr lang="de-CH" sz="1500"/>
                        <a:t>0 – 6 or 2.5</a:t>
                      </a:r>
                    </a:p>
                  </a:txBody>
                  <a:tcPr/>
                </a:tc>
                <a:extLst>
                  <a:ext uri="{0D108BD9-81ED-4DB2-BD59-A6C34878D82A}">
                    <a16:rowId xmlns:a16="http://schemas.microsoft.com/office/drawing/2014/main" val="2287802074"/>
                  </a:ext>
                </a:extLst>
              </a:tr>
              <a:tr h="468652">
                <a:tc>
                  <a:txBody>
                    <a:bodyPr/>
                    <a:lstStyle/>
                    <a:p>
                      <a:r>
                        <a:rPr lang="de-CH" sz="1500"/>
                        <a:t>hatching rate</a:t>
                      </a:r>
                    </a:p>
                  </a:txBody>
                  <a:tcPr/>
                </a:tc>
                <a:tc>
                  <a:txBody>
                    <a:bodyPr/>
                    <a:lstStyle/>
                    <a:p>
                      <a:r>
                        <a:rPr lang="de-CH" sz="1500"/>
                        <a:t>0.5 or 0 - 1</a:t>
                      </a:r>
                    </a:p>
                  </a:txBody>
                  <a:tcPr/>
                </a:tc>
                <a:tc>
                  <a:txBody>
                    <a:bodyPr/>
                    <a:lstStyle/>
                    <a:p>
                      <a:r>
                        <a:rPr lang="de-CH" sz="1500"/>
                        <a:t>0 - 1</a:t>
                      </a:r>
                    </a:p>
                  </a:txBody>
                  <a:tcPr/>
                </a:tc>
                <a:extLst>
                  <a:ext uri="{0D108BD9-81ED-4DB2-BD59-A6C34878D82A}">
                    <a16:rowId xmlns:a16="http://schemas.microsoft.com/office/drawing/2014/main" val="890595372"/>
                  </a:ext>
                </a:extLst>
              </a:tr>
              <a:tr h="273380">
                <a:tc>
                  <a:txBody>
                    <a:bodyPr/>
                    <a:lstStyle/>
                    <a:p>
                      <a:r>
                        <a:rPr lang="de-CH" sz="1500"/>
                        <a:t>survival rate </a:t>
                      </a:r>
                    </a:p>
                  </a:txBody>
                  <a:tcPr/>
                </a:tc>
                <a:tc>
                  <a:txBody>
                    <a:bodyPr/>
                    <a:lstStyle/>
                    <a:p>
                      <a:r>
                        <a:rPr lang="de-CH" sz="1500"/>
                        <a:t>0.4</a:t>
                      </a:r>
                    </a:p>
                  </a:txBody>
                  <a:tcPr/>
                </a:tc>
                <a:tc>
                  <a:txBody>
                    <a:bodyPr/>
                    <a:lstStyle/>
                    <a:p>
                      <a:r>
                        <a:rPr lang="de-CH" sz="1500"/>
                        <a:t>0.55</a:t>
                      </a:r>
                    </a:p>
                  </a:txBody>
                  <a:tcPr/>
                </a:tc>
                <a:extLst>
                  <a:ext uri="{0D108BD9-81ED-4DB2-BD59-A6C34878D82A}">
                    <a16:rowId xmlns:a16="http://schemas.microsoft.com/office/drawing/2014/main" val="3665337699"/>
                  </a:ext>
                </a:extLst>
              </a:tr>
              <a:tr h="306455">
                <a:tc>
                  <a:txBody>
                    <a:bodyPr/>
                    <a:lstStyle/>
                    <a:p>
                      <a:r>
                        <a:rPr lang="de-CH" sz="1500"/>
                        <a:t>mutation rate</a:t>
                      </a:r>
                    </a:p>
                  </a:txBody>
                  <a:tcPr/>
                </a:tc>
                <a:tc gridSpan="2">
                  <a:txBody>
                    <a:bodyPr/>
                    <a:lstStyle/>
                    <a:p>
                      <a:r>
                        <a:rPr lang="de-CH" sz="1500"/>
                        <a:t>0.001</a:t>
                      </a:r>
                    </a:p>
                  </a:txBody>
                  <a:tcPr/>
                </a:tc>
                <a:tc hMerge="1">
                  <a:txBody>
                    <a:bodyPr/>
                    <a:lstStyle/>
                    <a:p>
                      <a:endParaRPr lang="de-CH"/>
                    </a:p>
                  </a:txBody>
                  <a:tcPr/>
                </a:tc>
                <a:extLst>
                  <a:ext uri="{0D108BD9-81ED-4DB2-BD59-A6C34878D82A}">
                    <a16:rowId xmlns:a16="http://schemas.microsoft.com/office/drawing/2014/main" val="2023240453"/>
                  </a:ext>
                </a:extLst>
              </a:tr>
            </a:tbl>
          </a:graphicData>
        </a:graphic>
      </p:graphicFrame>
    </p:spTree>
    <p:extLst>
      <p:ext uri="{BB962C8B-B14F-4D97-AF65-F5344CB8AC3E}">
        <p14:creationId xmlns:p14="http://schemas.microsoft.com/office/powerpoint/2010/main" val="2922663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D2492-A32D-0C04-0700-9EB136F06020}"/>
              </a:ext>
            </a:extLst>
          </p:cNvPr>
          <p:cNvSpPr>
            <a:spLocks noGrp="1"/>
          </p:cNvSpPr>
          <p:nvPr>
            <p:ph type="title"/>
          </p:nvPr>
        </p:nvSpPr>
        <p:spPr/>
        <p:txBody>
          <a:bodyPr>
            <a:normAutofit/>
          </a:bodyPr>
          <a:lstStyle/>
          <a:p>
            <a:r>
              <a:rPr lang="en-GB" sz="2800"/>
              <a:t>Evolutionary Rescue Probability with Mutant hatching rate vs Mutant fecundity</a:t>
            </a:r>
            <a:endParaRPr lang="en-CH" sz="2800"/>
          </a:p>
        </p:txBody>
      </p:sp>
      <p:sp>
        <p:nvSpPr>
          <p:cNvPr id="3" name="Foliennummernplatzhalter 2">
            <a:extLst>
              <a:ext uri="{FF2B5EF4-FFF2-40B4-BE49-F238E27FC236}">
                <a16:creationId xmlns:a16="http://schemas.microsoft.com/office/drawing/2014/main" id="{9ACA4191-C5EA-6C48-9764-62BD8E54986D}"/>
              </a:ext>
            </a:extLst>
          </p:cNvPr>
          <p:cNvSpPr>
            <a:spLocks noGrp="1"/>
          </p:cNvSpPr>
          <p:nvPr>
            <p:ph type="sldNum" sz="quarter" idx="12"/>
          </p:nvPr>
        </p:nvSpPr>
        <p:spPr/>
        <p:txBody>
          <a:bodyPr/>
          <a:lstStyle/>
          <a:p>
            <a:fld id="{AD036ABA-2983-EA40-A0BC-E355E1F2A4C5}" type="slidenum">
              <a:rPr lang="de-CH" smtClean="0"/>
              <a:t>9</a:t>
            </a:fld>
            <a:endParaRPr lang="de-CH"/>
          </a:p>
        </p:txBody>
      </p:sp>
      <p:pic>
        <p:nvPicPr>
          <p:cNvPr id="7" name="Content Placeholder 6" descr="A graph of a number of individuals&#10;&#10;AI-generated content may be incorrect.">
            <a:extLst>
              <a:ext uri="{FF2B5EF4-FFF2-40B4-BE49-F238E27FC236}">
                <a16:creationId xmlns:a16="http://schemas.microsoft.com/office/drawing/2014/main" id="{B0A763EA-40B7-F446-6CC7-FADF3B3B8B08}"/>
              </a:ext>
            </a:extLst>
          </p:cNvPr>
          <p:cNvPicPr>
            <a:picLocks noGrp="1" noChangeAspect="1"/>
          </p:cNvPicPr>
          <p:nvPr>
            <p:ph idx="1"/>
          </p:nvPr>
        </p:nvPicPr>
        <p:blipFill>
          <a:blip r:embed="rId3"/>
          <a:stretch>
            <a:fillRect/>
          </a:stretch>
        </p:blipFill>
        <p:spPr>
          <a:xfrm>
            <a:off x="739922" y="1622050"/>
            <a:ext cx="8313894" cy="4734300"/>
          </a:xfrm>
        </p:spPr>
      </p:pic>
      <p:graphicFrame>
        <p:nvGraphicFramePr>
          <p:cNvPr id="9" name="Tabelle 8">
            <a:extLst>
              <a:ext uri="{FF2B5EF4-FFF2-40B4-BE49-F238E27FC236}">
                <a16:creationId xmlns:a16="http://schemas.microsoft.com/office/drawing/2014/main" id="{475C2679-C9E5-D893-2D4E-E83FA88ED612}"/>
              </a:ext>
            </a:extLst>
          </p:cNvPr>
          <p:cNvGraphicFramePr>
            <a:graphicFrameLocks noGrp="1"/>
          </p:cNvGraphicFramePr>
          <p:nvPr>
            <p:extLst>
              <p:ext uri="{D42A27DB-BD31-4B8C-83A1-F6EECF244321}">
                <p14:modId xmlns:p14="http://schemas.microsoft.com/office/powerpoint/2010/main" val="350708706"/>
              </p:ext>
            </p:extLst>
          </p:nvPr>
        </p:nvGraphicFramePr>
        <p:xfrm>
          <a:off x="8198924" y="3634887"/>
          <a:ext cx="3253154" cy="2356338"/>
        </p:xfrm>
        <a:graphic>
          <a:graphicData uri="http://schemas.openxmlformats.org/drawingml/2006/table">
            <a:tbl>
              <a:tblPr firstRow="1" bandRow="1">
                <a:tableStyleId>{5940675A-B579-460E-94D1-54222C63F5DA}</a:tableStyleId>
              </a:tblPr>
              <a:tblGrid>
                <a:gridCol w="1371928">
                  <a:extLst>
                    <a:ext uri="{9D8B030D-6E8A-4147-A177-3AD203B41FA5}">
                      <a16:colId xmlns:a16="http://schemas.microsoft.com/office/drawing/2014/main" val="4025467776"/>
                    </a:ext>
                  </a:extLst>
                </a:gridCol>
                <a:gridCol w="978549">
                  <a:extLst>
                    <a:ext uri="{9D8B030D-6E8A-4147-A177-3AD203B41FA5}">
                      <a16:colId xmlns:a16="http://schemas.microsoft.com/office/drawing/2014/main" val="1183492622"/>
                    </a:ext>
                  </a:extLst>
                </a:gridCol>
                <a:gridCol w="902677">
                  <a:extLst>
                    <a:ext uri="{9D8B030D-6E8A-4147-A177-3AD203B41FA5}">
                      <a16:colId xmlns:a16="http://schemas.microsoft.com/office/drawing/2014/main" val="1226399433"/>
                    </a:ext>
                  </a:extLst>
                </a:gridCol>
              </a:tblGrid>
              <a:tr h="404446">
                <a:tc>
                  <a:txBody>
                    <a:bodyPr/>
                    <a:lstStyle/>
                    <a:p>
                      <a:r>
                        <a:rPr lang="de-CH" sz="1600"/>
                        <a:t>Parameters:</a:t>
                      </a:r>
                    </a:p>
                  </a:txBody>
                  <a:tcPr/>
                </a:tc>
                <a:tc>
                  <a:txBody>
                    <a:bodyPr/>
                    <a:lstStyle/>
                    <a:p>
                      <a:r>
                        <a:rPr lang="de-CH" sz="1600" err="1"/>
                        <a:t>wildtype</a:t>
                      </a:r>
                      <a:endParaRPr lang="de-CH" sz="1600"/>
                    </a:p>
                  </a:txBody>
                  <a:tcPr/>
                </a:tc>
                <a:tc>
                  <a:txBody>
                    <a:bodyPr/>
                    <a:lstStyle/>
                    <a:p>
                      <a:r>
                        <a:rPr lang="de-CH" sz="1600" err="1"/>
                        <a:t>mutant</a:t>
                      </a:r>
                      <a:endParaRPr lang="de-CH" sz="1600"/>
                    </a:p>
                  </a:txBody>
                  <a:tcPr/>
                </a:tc>
                <a:extLst>
                  <a:ext uri="{0D108BD9-81ED-4DB2-BD59-A6C34878D82A}">
                    <a16:rowId xmlns:a16="http://schemas.microsoft.com/office/drawing/2014/main" val="611400347"/>
                  </a:ext>
                </a:extLst>
              </a:tr>
              <a:tr h="388437">
                <a:tc>
                  <a:txBody>
                    <a:bodyPr/>
                    <a:lstStyle/>
                    <a:p>
                      <a:r>
                        <a:rPr lang="de-CH" sz="1600"/>
                        <a:t>initial </a:t>
                      </a:r>
                      <a:r>
                        <a:rPr lang="de-CH" sz="1600" err="1"/>
                        <a:t>pop</a:t>
                      </a:r>
                      <a:r>
                        <a:rPr lang="de-CH" sz="1600"/>
                        <a:t>.</a:t>
                      </a:r>
                    </a:p>
                  </a:txBody>
                  <a:tcPr/>
                </a:tc>
                <a:tc>
                  <a:txBody>
                    <a:bodyPr/>
                    <a:lstStyle/>
                    <a:p>
                      <a:r>
                        <a:rPr lang="de-CH" sz="1600"/>
                        <a:t>100</a:t>
                      </a:r>
                    </a:p>
                  </a:txBody>
                  <a:tcPr/>
                </a:tc>
                <a:tc>
                  <a:txBody>
                    <a:bodyPr/>
                    <a:lstStyle/>
                    <a:p>
                      <a:r>
                        <a:rPr lang="de-CH" sz="1600"/>
                        <a:t>50</a:t>
                      </a:r>
                    </a:p>
                  </a:txBody>
                  <a:tcPr/>
                </a:tc>
                <a:extLst>
                  <a:ext uri="{0D108BD9-81ED-4DB2-BD59-A6C34878D82A}">
                    <a16:rowId xmlns:a16="http://schemas.microsoft.com/office/drawing/2014/main" val="3946468305"/>
                  </a:ext>
                </a:extLst>
              </a:tr>
              <a:tr h="388437">
                <a:tc>
                  <a:txBody>
                    <a:bodyPr/>
                    <a:lstStyle/>
                    <a:p>
                      <a:r>
                        <a:rPr lang="de-CH" sz="1600" err="1"/>
                        <a:t>fecundity</a:t>
                      </a:r>
                      <a:endParaRPr lang="de-CH" sz="1600"/>
                    </a:p>
                  </a:txBody>
                  <a:tcPr/>
                </a:tc>
                <a:tc>
                  <a:txBody>
                    <a:bodyPr/>
                    <a:lstStyle/>
                    <a:p>
                      <a:r>
                        <a:rPr lang="de-CH" sz="1600"/>
                        <a:t>2</a:t>
                      </a:r>
                    </a:p>
                  </a:txBody>
                  <a:tcPr/>
                </a:tc>
                <a:tc>
                  <a:txBody>
                    <a:bodyPr/>
                    <a:lstStyle/>
                    <a:p>
                      <a:r>
                        <a:rPr lang="de-CH" sz="1600"/>
                        <a:t>0 - 10</a:t>
                      </a:r>
                    </a:p>
                  </a:txBody>
                  <a:tcPr/>
                </a:tc>
                <a:extLst>
                  <a:ext uri="{0D108BD9-81ED-4DB2-BD59-A6C34878D82A}">
                    <a16:rowId xmlns:a16="http://schemas.microsoft.com/office/drawing/2014/main" val="2287802074"/>
                  </a:ext>
                </a:extLst>
              </a:tr>
              <a:tr h="388437">
                <a:tc>
                  <a:txBody>
                    <a:bodyPr/>
                    <a:lstStyle/>
                    <a:p>
                      <a:r>
                        <a:rPr lang="de-CH" sz="1600" err="1"/>
                        <a:t>hatching</a:t>
                      </a:r>
                      <a:r>
                        <a:rPr lang="de-CH" sz="1600"/>
                        <a:t> rate</a:t>
                      </a:r>
                    </a:p>
                  </a:txBody>
                  <a:tcPr/>
                </a:tc>
                <a:tc>
                  <a:txBody>
                    <a:bodyPr/>
                    <a:lstStyle/>
                    <a:p>
                      <a:r>
                        <a:rPr lang="de-CH" sz="1600"/>
                        <a:t>0.5</a:t>
                      </a:r>
                    </a:p>
                  </a:txBody>
                  <a:tcPr/>
                </a:tc>
                <a:tc>
                  <a:txBody>
                    <a:bodyPr/>
                    <a:lstStyle/>
                    <a:p>
                      <a:r>
                        <a:rPr lang="de-CH" sz="1600"/>
                        <a:t>0 - 1</a:t>
                      </a:r>
                    </a:p>
                  </a:txBody>
                  <a:tcPr/>
                </a:tc>
                <a:extLst>
                  <a:ext uri="{0D108BD9-81ED-4DB2-BD59-A6C34878D82A}">
                    <a16:rowId xmlns:a16="http://schemas.microsoft.com/office/drawing/2014/main" val="890595372"/>
                  </a:ext>
                </a:extLst>
              </a:tr>
              <a:tr h="388437">
                <a:tc>
                  <a:txBody>
                    <a:bodyPr/>
                    <a:lstStyle/>
                    <a:p>
                      <a:r>
                        <a:rPr lang="de-CH" sz="1600" err="1"/>
                        <a:t>survival</a:t>
                      </a:r>
                      <a:r>
                        <a:rPr lang="de-CH" sz="1600"/>
                        <a:t> rate </a:t>
                      </a:r>
                    </a:p>
                  </a:txBody>
                  <a:tcPr/>
                </a:tc>
                <a:tc>
                  <a:txBody>
                    <a:bodyPr/>
                    <a:lstStyle/>
                    <a:p>
                      <a:r>
                        <a:rPr lang="de-CH" sz="1600"/>
                        <a:t>0.4</a:t>
                      </a:r>
                    </a:p>
                  </a:txBody>
                  <a:tcPr/>
                </a:tc>
                <a:tc>
                  <a:txBody>
                    <a:bodyPr/>
                    <a:lstStyle/>
                    <a:p>
                      <a:r>
                        <a:rPr lang="de-CH" sz="1600"/>
                        <a:t>0.55</a:t>
                      </a:r>
                    </a:p>
                  </a:txBody>
                  <a:tcPr/>
                </a:tc>
                <a:extLst>
                  <a:ext uri="{0D108BD9-81ED-4DB2-BD59-A6C34878D82A}">
                    <a16:rowId xmlns:a16="http://schemas.microsoft.com/office/drawing/2014/main" val="3665337699"/>
                  </a:ext>
                </a:extLst>
              </a:tr>
              <a:tr h="398144">
                <a:tc>
                  <a:txBody>
                    <a:bodyPr/>
                    <a:lstStyle/>
                    <a:p>
                      <a:r>
                        <a:rPr lang="de-CH" sz="1600" err="1"/>
                        <a:t>mutation</a:t>
                      </a:r>
                      <a:r>
                        <a:rPr lang="de-CH" sz="1600"/>
                        <a:t> rate</a:t>
                      </a:r>
                    </a:p>
                  </a:txBody>
                  <a:tcPr/>
                </a:tc>
                <a:tc gridSpan="2">
                  <a:txBody>
                    <a:bodyPr/>
                    <a:lstStyle/>
                    <a:p>
                      <a:r>
                        <a:rPr lang="de-CH" sz="1600"/>
                        <a:t>0.001</a:t>
                      </a:r>
                    </a:p>
                  </a:txBody>
                  <a:tcPr/>
                </a:tc>
                <a:tc hMerge="1">
                  <a:txBody>
                    <a:bodyPr/>
                    <a:lstStyle/>
                    <a:p>
                      <a:endParaRPr lang="de-CH"/>
                    </a:p>
                  </a:txBody>
                  <a:tcPr/>
                </a:tc>
                <a:extLst>
                  <a:ext uri="{0D108BD9-81ED-4DB2-BD59-A6C34878D82A}">
                    <a16:rowId xmlns:a16="http://schemas.microsoft.com/office/drawing/2014/main" val="2023240453"/>
                  </a:ext>
                </a:extLst>
              </a:tr>
            </a:tbl>
          </a:graphicData>
        </a:graphic>
      </p:graphicFrame>
    </p:spTree>
    <p:extLst>
      <p:ext uri="{BB962C8B-B14F-4D97-AF65-F5344CB8AC3E}">
        <p14:creationId xmlns:p14="http://schemas.microsoft.com/office/powerpoint/2010/main" val="26556865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4B6EB-2D88-9F10-F731-A1EF92F9582E}"/>
              </a:ext>
            </a:extLst>
          </p:cNvPr>
          <p:cNvSpPr>
            <a:spLocks noGrp="1"/>
          </p:cNvSpPr>
          <p:nvPr>
            <p:ph type="title"/>
          </p:nvPr>
        </p:nvSpPr>
        <p:spPr/>
        <p:txBody>
          <a:bodyPr>
            <a:normAutofit/>
          </a:bodyPr>
          <a:lstStyle/>
          <a:p>
            <a:r>
              <a:rPr lang="en-GB" sz="2800"/>
              <a:t>Evolutionary Rescue vs Fecundity of Wildtype and Mutant (Number of round 200)</a:t>
            </a:r>
            <a:endParaRPr lang="en-CH" sz="2800"/>
          </a:p>
        </p:txBody>
      </p:sp>
      <p:sp>
        <p:nvSpPr>
          <p:cNvPr id="3" name="Foliennummernplatzhalter 2">
            <a:extLst>
              <a:ext uri="{FF2B5EF4-FFF2-40B4-BE49-F238E27FC236}">
                <a16:creationId xmlns:a16="http://schemas.microsoft.com/office/drawing/2014/main" id="{29449CEE-0F07-A110-B8C4-0CE303E1370C}"/>
              </a:ext>
            </a:extLst>
          </p:cNvPr>
          <p:cNvSpPr>
            <a:spLocks noGrp="1"/>
          </p:cNvSpPr>
          <p:nvPr>
            <p:ph type="sldNum" sz="quarter" idx="12"/>
          </p:nvPr>
        </p:nvSpPr>
        <p:spPr/>
        <p:txBody>
          <a:bodyPr/>
          <a:lstStyle/>
          <a:p>
            <a:fld id="{AD036ABA-2983-EA40-A0BC-E355E1F2A4C5}" type="slidenum">
              <a:rPr lang="de-CH" smtClean="0"/>
              <a:t>10</a:t>
            </a:fld>
            <a:endParaRPr lang="de-CH"/>
          </a:p>
        </p:txBody>
      </p:sp>
      <p:pic>
        <p:nvPicPr>
          <p:cNvPr id="8" name="Content Placeholder 7" descr="A graph of a number of different colored squares&#10;&#10;AI-generated content may be incorrect.">
            <a:extLst>
              <a:ext uri="{FF2B5EF4-FFF2-40B4-BE49-F238E27FC236}">
                <a16:creationId xmlns:a16="http://schemas.microsoft.com/office/drawing/2014/main" id="{371EC31F-3A7A-02F1-D993-73AE85BEB582}"/>
              </a:ext>
            </a:extLst>
          </p:cNvPr>
          <p:cNvPicPr>
            <a:picLocks noGrp="1" noChangeAspect="1"/>
          </p:cNvPicPr>
          <p:nvPr>
            <p:ph idx="1"/>
          </p:nvPr>
        </p:nvPicPr>
        <p:blipFill>
          <a:blip r:embed="rId3"/>
          <a:stretch>
            <a:fillRect/>
          </a:stretch>
        </p:blipFill>
        <p:spPr>
          <a:xfrm>
            <a:off x="838200" y="1690688"/>
            <a:ext cx="8125145" cy="4626818"/>
          </a:xfrm>
        </p:spPr>
      </p:pic>
      <p:graphicFrame>
        <p:nvGraphicFramePr>
          <p:cNvPr id="7" name="Tabelle 6">
            <a:extLst>
              <a:ext uri="{FF2B5EF4-FFF2-40B4-BE49-F238E27FC236}">
                <a16:creationId xmlns:a16="http://schemas.microsoft.com/office/drawing/2014/main" id="{38700E89-7022-7C1C-D008-5B08F3B1E39B}"/>
              </a:ext>
            </a:extLst>
          </p:cNvPr>
          <p:cNvGraphicFramePr>
            <a:graphicFrameLocks noGrp="1"/>
          </p:cNvGraphicFramePr>
          <p:nvPr>
            <p:extLst>
              <p:ext uri="{D42A27DB-BD31-4B8C-83A1-F6EECF244321}">
                <p14:modId xmlns:p14="http://schemas.microsoft.com/office/powerpoint/2010/main" val="3716847397"/>
              </p:ext>
            </p:extLst>
          </p:nvPr>
        </p:nvGraphicFramePr>
        <p:xfrm>
          <a:off x="8100646" y="3652471"/>
          <a:ext cx="3253154" cy="2356338"/>
        </p:xfrm>
        <a:graphic>
          <a:graphicData uri="http://schemas.openxmlformats.org/drawingml/2006/table">
            <a:tbl>
              <a:tblPr firstRow="1" bandRow="1">
                <a:tableStyleId>{5940675A-B579-460E-94D1-54222C63F5DA}</a:tableStyleId>
              </a:tblPr>
              <a:tblGrid>
                <a:gridCol w="1371928">
                  <a:extLst>
                    <a:ext uri="{9D8B030D-6E8A-4147-A177-3AD203B41FA5}">
                      <a16:colId xmlns:a16="http://schemas.microsoft.com/office/drawing/2014/main" val="4025467776"/>
                    </a:ext>
                  </a:extLst>
                </a:gridCol>
                <a:gridCol w="978549">
                  <a:extLst>
                    <a:ext uri="{9D8B030D-6E8A-4147-A177-3AD203B41FA5}">
                      <a16:colId xmlns:a16="http://schemas.microsoft.com/office/drawing/2014/main" val="1183492622"/>
                    </a:ext>
                  </a:extLst>
                </a:gridCol>
                <a:gridCol w="902677">
                  <a:extLst>
                    <a:ext uri="{9D8B030D-6E8A-4147-A177-3AD203B41FA5}">
                      <a16:colId xmlns:a16="http://schemas.microsoft.com/office/drawing/2014/main" val="1226399433"/>
                    </a:ext>
                  </a:extLst>
                </a:gridCol>
              </a:tblGrid>
              <a:tr h="404446">
                <a:tc>
                  <a:txBody>
                    <a:bodyPr/>
                    <a:lstStyle/>
                    <a:p>
                      <a:r>
                        <a:rPr lang="de-CH" sz="1600"/>
                        <a:t>Parameters:</a:t>
                      </a:r>
                    </a:p>
                  </a:txBody>
                  <a:tcPr/>
                </a:tc>
                <a:tc>
                  <a:txBody>
                    <a:bodyPr/>
                    <a:lstStyle/>
                    <a:p>
                      <a:r>
                        <a:rPr lang="de-CH" sz="1600" err="1"/>
                        <a:t>wildtype</a:t>
                      </a:r>
                      <a:endParaRPr lang="de-CH" sz="1600"/>
                    </a:p>
                  </a:txBody>
                  <a:tcPr/>
                </a:tc>
                <a:tc>
                  <a:txBody>
                    <a:bodyPr/>
                    <a:lstStyle/>
                    <a:p>
                      <a:r>
                        <a:rPr lang="de-CH" sz="1600" err="1"/>
                        <a:t>mutant</a:t>
                      </a:r>
                      <a:endParaRPr lang="de-CH" sz="1600"/>
                    </a:p>
                  </a:txBody>
                  <a:tcPr/>
                </a:tc>
                <a:extLst>
                  <a:ext uri="{0D108BD9-81ED-4DB2-BD59-A6C34878D82A}">
                    <a16:rowId xmlns:a16="http://schemas.microsoft.com/office/drawing/2014/main" val="611400347"/>
                  </a:ext>
                </a:extLst>
              </a:tr>
              <a:tr h="388437">
                <a:tc>
                  <a:txBody>
                    <a:bodyPr/>
                    <a:lstStyle/>
                    <a:p>
                      <a:r>
                        <a:rPr lang="de-CH" sz="1600"/>
                        <a:t>initial </a:t>
                      </a:r>
                      <a:r>
                        <a:rPr lang="de-CH" sz="1600" err="1"/>
                        <a:t>pop</a:t>
                      </a:r>
                      <a:r>
                        <a:rPr lang="de-CH" sz="1600"/>
                        <a:t>.</a:t>
                      </a:r>
                    </a:p>
                  </a:txBody>
                  <a:tcPr/>
                </a:tc>
                <a:tc>
                  <a:txBody>
                    <a:bodyPr/>
                    <a:lstStyle/>
                    <a:p>
                      <a:r>
                        <a:rPr lang="de-CH" sz="1600"/>
                        <a:t>100</a:t>
                      </a:r>
                    </a:p>
                  </a:txBody>
                  <a:tcPr/>
                </a:tc>
                <a:tc>
                  <a:txBody>
                    <a:bodyPr/>
                    <a:lstStyle/>
                    <a:p>
                      <a:r>
                        <a:rPr lang="de-CH" sz="1600"/>
                        <a:t>50</a:t>
                      </a:r>
                    </a:p>
                  </a:txBody>
                  <a:tcPr/>
                </a:tc>
                <a:extLst>
                  <a:ext uri="{0D108BD9-81ED-4DB2-BD59-A6C34878D82A}">
                    <a16:rowId xmlns:a16="http://schemas.microsoft.com/office/drawing/2014/main" val="3946468305"/>
                  </a:ext>
                </a:extLst>
              </a:tr>
              <a:tr h="388437">
                <a:tc>
                  <a:txBody>
                    <a:bodyPr/>
                    <a:lstStyle/>
                    <a:p>
                      <a:r>
                        <a:rPr lang="de-CH" sz="1600" err="1"/>
                        <a:t>fecundity</a:t>
                      </a:r>
                      <a:endParaRPr lang="de-CH" sz="1600"/>
                    </a:p>
                  </a:txBody>
                  <a:tcPr/>
                </a:tc>
                <a:tc>
                  <a:txBody>
                    <a:bodyPr/>
                    <a:lstStyle/>
                    <a:p>
                      <a:r>
                        <a:rPr lang="de-CH" sz="1600"/>
                        <a:t>0 - 5</a:t>
                      </a:r>
                    </a:p>
                  </a:txBody>
                  <a:tcPr/>
                </a:tc>
                <a:tc>
                  <a:txBody>
                    <a:bodyPr/>
                    <a:lstStyle/>
                    <a:p>
                      <a:r>
                        <a:rPr lang="de-CH" sz="1600"/>
                        <a:t>0 - 5</a:t>
                      </a:r>
                    </a:p>
                  </a:txBody>
                  <a:tcPr/>
                </a:tc>
                <a:extLst>
                  <a:ext uri="{0D108BD9-81ED-4DB2-BD59-A6C34878D82A}">
                    <a16:rowId xmlns:a16="http://schemas.microsoft.com/office/drawing/2014/main" val="2287802074"/>
                  </a:ext>
                </a:extLst>
              </a:tr>
              <a:tr h="388437">
                <a:tc>
                  <a:txBody>
                    <a:bodyPr/>
                    <a:lstStyle/>
                    <a:p>
                      <a:r>
                        <a:rPr lang="de-CH" sz="1600" err="1"/>
                        <a:t>hatching</a:t>
                      </a:r>
                      <a:r>
                        <a:rPr lang="de-CH" sz="1600"/>
                        <a:t> rate</a:t>
                      </a:r>
                    </a:p>
                  </a:txBody>
                  <a:tcPr/>
                </a:tc>
                <a:tc>
                  <a:txBody>
                    <a:bodyPr/>
                    <a:lstStyle/>
                    <a:p>
                      <a:r>
                        <a:rPr lang="de-CH" sz="1600"/>
                        <a:t>0.5</a:t>
                      </a:r>
                    </a:p>
                  </a:txBody>
                  <a:tcPr/>
                </a:tc>
                <a:tc>
                  <a:txBody>
                    <a:bodyPr/>
                    <a:lstStyle/>
                    <a:p>
                      <a:r>
                        <a:rPr lang="de-CH" sz="1600"/>
                        <a:t>0.55</a:t>
                      </a:r>
                    </a:p>
                  </a:txBody>
                  <a:tcPr/>
                </a:tc>
                <a:extLst>
                  <a:ext uri="{0D108BD9-81ED-4DB2-BD59-A6C34878D82A}">
                    <a16:rowId xmlns:a16="http://schemas.microsoft.com/office/drawing/2014/main" val="890595372"/>
                  </a:ext>
                </a:extLst>
              </a:tr>
              <a:tr h="388437">
                <a:tc>
                  <a:txBody>
                    <a:bodyPr/>
                    <a:lstStyle/>
                    <a:p>
                      <a:r>
                        <a:rPr lang="de-CH" sz="1600" err="1"/>
                        <a:t>survival</a:t>
                      </a:r>
                      <a:r>
                        <a:rPr lang="de-CH" sz="1600"/>
                        <a:t> rate </a:t>
                      </a:r>
                    </a:p>
                  </a:txBody>
                  <a:tcPr/>
                </a:tc>
                <a:tc>
                  <a:txBody>
                    <a:bodyPr/>
                    <a:lstStyle/>
                    <a:p>
                      <a:r>
                        <a:rPr lang="de-CH" sz="1600"/>
                        <a:t>0.4</a:t>
                      </a:r>
                    </a:p>
                  </a:txBody>
                  <a:tcPr/>
                </a:tc>
                <a:tc>
                  <a:txBody>
                    <a:bodyPr/>
                    <a:lstStyle/>
                    <a:p>
                      <a:r>
                        <a:rPr lang="de-CH" sz="1600"/>
                        <a:t>0.55</a:t>
                      </a:r>
                    </a:p>
                  </a:txBody>
                  <a:tcPr/>
                </a:tc>
                <a:extLst>
                  <a:ext uri="{0D108BD9-81ED-4DB2-BD59-A6C34878D82A}">
                    <a16:rowId xmlns:a16="http://schemas.microsoft.com/office/drawing/2014/main" val="3665337699"/>
                  </a:ext>
                </a:extLst>
              </a:tr>
              <a:tr h="398144">
                <a:tc>
                  <a:txBody>
                    <a:bodyPr/>
                    <a:lstStyle/>
                    <a:p>
                      <a:r>
                        <a:rPr lang="de-CH" sz="1600" err="1"/>
                        <a:t>mutation</a:t>
                      </a:r>
                      <a:r>
                        <a:rPr lang="de-CH" sz="1600"/>
                        <a:t> rate</a:t>
                      </a:r>
                    </a:p>
                  </a:txBody>
                  <a:tcPr/>
                </a:tc>
                <a:tc gridSpan="2">
                  <a:txBody>
                    <a:bodyPr/>
                    <a:lstStyle/>
                    <a:p>
                      <a:r>
                        <a:rPr lang="de-CH" sz="1600"/>
                        <a:t>0.001</a:t>
                      </a:r>
                    </a:p>
                  </a:txBody>
                  <a:tcPr/>
                </a:tc>
                <a:tc hMerge="1">
                  <a:txBody>
                    <a:bodyPr/>
                    <a:lstStyle/>
                    <a:p>
                      <a:endParaRPr lang="de-CH"/>
                    </a:p>
                  </a:txBody>
                  <a:tcPr/>
                </a:tc>
                <a:extLst>
                  <a:ext uri="{0D108BD9-81ED-4DB2-BD59-A6C34878D82A}">
                    <a16:rowId xmlns:a16="http://schemas.microsoft.com/office/drawing/2014/main" val="2023240453"/>
                  </a:ext>
                </a:extLst>
              </a:tr>
            </a:tbl>
          </a:graphicData>
        </a:graphic>
      </p:graphicFrame>
    </p:spTree>
    <p:extLst>
      <p:ext uri="{BB962C8B-B14F-4D97-AF65-F5344CB8AC3E}">
        <p14:creationId xmlns:p14="http://schemas.microsoft.com/office/powerpoint/2010/main" val="14139857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CF5C4-8DB5-3D99-BC1E-6EDF9166D650}"/>
              </a:ext>
            </a:extLst>
          </p:cNvPr>
          <p:cNvSpPr>
            <a:spLocks noGrp="1"/>
          </p:cNvSpPr>
          <p:nvPr>
            <p:ph type="title"/>
          </p:nvPr>
        </p:nvSpPr>
        <p:spPr/>
        <p:txBody>
          <a:bodyPr/>
          <a:lstStyle/>
          <a:p>
            <a:r>
              <a:rPr lang="en-US"/>
              <a:t>Biological Interpretation</a:t>
            </a:r>
            <a:endParaRPr lang="en-CH"/>
          </a:p>
        </p:txBody>
      </p:sp>
      <p:sp>
        <p:nvSpPr>
          <p:cNvPr id="4" name="Rectangle 1">
            <a:extLst>
              <a:ext uri="{FF2B5EF4-FFF2-40B4-BE49-F238E27FC236}">
                <a16:creationId xmlns:a16="http://schemas.microsoft.com/office/drawing/2014/main" id="{A85F5883-5052-F3C1-F87E-E7C1BF22095A}"/>
              </a:ext>
            </a:extLst>
          </p:cNvPr>
          <p:cNvSpPr>
            <a:spLocks noGrp="1" noChangeArrowheads="1"/>
          </p:cNvSpPr>
          <p:nvPr>
            <p:ph idx="1"/>
          </p:nvPr>
        </p:nvSpPr>
        <p:spPr bwMode="auto">
          <a:xfrm>
            <a:off x="609471" y="1690688"/>
            <a:ext cx="9583993"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pPr>
            <a:r>
              <a:rPr lang="en-US" sz="2400"/>
              <a:t>Population survival under stress depends on hatching success and fecundity.</a:t>
            </a:r>
          </a:p>
          <a:p>
            <a:pPr marL="0" indent="0" eaLnBrk="0" fontAlgn="base" hangingPunct="0">
              <a:lnSpc>
                <a:spcPct val="100000"/>
              </a:lnSpc>
              <a:spcBef>
                <a:spcPct val="0"/>
              </a:spcBef>
              <a:spcAft>
                <a:spcPct val="0"/>
              </a:spcAft>
              <a:buNone/>
            </a:pPr>
            <a:endParaRPr kumimoji="0" lang="en-CH" altLang="en-CH" sz="2400" b="0" i="0" u="none" strike="noStrike" cap="none" normalizeH="0" baseline="0">
              <a:ln>
                <a:noFill/>
              </a:ln>
              <a:solidFill>
                <a:schemeClr val="tx1"/>
              </a:solidFill>
              <a:effectLst/>
            </a:endParaRPr>
          </a:p>
          <a:p>
            <a:pPr eaLnBrk="0" fontAlgn="base" hangingPunct="0">
              <a:lnSpc>
                <a:spcPct val="100000"/>
              </a:lnSpc>
              <a:spcBef>
                <a:spcPct val="0"/>
              </a:spcBef>
              <a:spcAft>
                <a:spcPct val="0"/>
              </a:spcAft>
            </a:pPr>
            <a:r>
              <a:rPr kumimoji="0" lang="en-CH" altLang="en-CH" sz="2400" b="0" i="0" u="none" strike="noStrike" cap="none" normalizeH="0" baseline="0">
                <a:ln>
                  <a:noFill/>
                </a:ln>
                <a:solidFill>
                  <a:schemeClr val="tx1"/>
                </a:solidFill>
                <a:effectLst/>
              </a:rPr>
              <a:t>Even rare beneficial mutations can enable rescue</a:t>
            </a:r>
            <a:r>
              <a:rPr kumimoji="0" lang="en-GB" altLang="en-CH" sz="2400" b="0" i="0" u="none" strike="noStrike" cap="none" normalizeH="0" baseline="0">
                <a:ln>
                  <a:noFill/>
                </a:ln>
                <a:solidFill>
                  <a:schemeClr val="tx1"/>
                </a:solidFill>
                <a:effectLst/>
              </a:rPr>
              <a:t>.</a:t>
            </a:r>
          </a:p>
          <a:p>
            <a:pPr eaLnBrk="0" fontAlgn="base" hangingPunct="0">
              <a:lnSpc>
                <a:spcPct val="100000"/>
              </a:lnSpc>
              <a:spcBef>
                <a:spcPct val="0"/>
              </a:spcBef>
              <a:spcAft>
                <a:spcPct val="0"/>
              </a:spcAft>
            </a:pPr>
            <a:endParaRPr lang="en-GB" altLang="en-CH" sz="2400"/>
          </a:p>
          <a:p>
            <a:pPr eaLnBrk="0" fontAlgn="base" hangingPunct="0">
              <a:lnSpc>
                <a:spcPct val="100000"/>
              </a:lnSpc>
              <a:spcBef>
                <a:spcPct val="0"/>
              </a:spcBef>
              <a:spcAft>
                <a:spcPct val="0"/>
              </a:spcAft>
            </a:pPr>
            <a:r>
              <a:rPr lang="en-GB" altLang="en-CH" sz="2400"/>
              <a:t>Low hatching or fecundity leads to extinction despite mutation potential</a:t>
            </a:r>
          </a:p>
          <a:p>
            <a:pPr eaLnBrk="0" fontAlgn="base" hangingPunct="0">
              <a:lnSpc>
                <a:spcPct val="100000"/>
              </a:lnSpc>
              <a:spcBef>
                <a:spcPct val="0"/>
              </a:spcBef>
              <a:spcAft>
                <a:spcPct val="0"/>
              </a:spcAft>
            </a:pPr>
            <a:endParaRPr kumimoji="0" lang="en-GB" altLang="en-CH" sz="2400" b="0" i="0" u="none" strike="noStrike" cap="none" normalizeH="0" baseline="0">
              <a:ln>
                <a:noFill/>
              </a:ln>
              <a:solidFill>
                <a:schemeClr val="tx1"/>
              </a:solidFill>
              <a:effectLst/>
            </a:endParaRPr>
          </a:p>
          <a:p>
            <a:pPr eaLnBrk="0" fontAlgn="base" hangingPunct="0">
              <a:lnSpc>
                <a:spcPct val="100000"/>
              </a:lnSpc>
              <a:spcBef>
                <a:spcPct val="0"/>
              </a:spcBef>
              <a:spcAft>
                <a:spcPct val="0"/>
              </a:spcAft>
            </a:pPr>
            <a:r>
              <a:rPr lang="en-US" sz="2400"/>
              <a:t>This highlights how life-stage adaptations can buffer insect populations against climate-driven stress.</a:t>
            </a:r>
            <a:endParaRPr kumimoji="0" lang="en-GB" altLang="en-CH" sz="2400" b="0" i="0" u="none" strike="noStrike" cap="none" normalizeH="0" baseline="0">
              <a:ln>
                <a:noFill/>
              </a:ln>
              <a:solidFill>
                <a:schemeClr val="tx1"/>
              </a:solidFill>
              <a:effectLst/>
            </a:endParaRPr>
          </a:p>
          <a:p>
            <a:pPr marL="0" indent="0" eaLnBrk="0" fontAlgn="base" hangingPunct="0">
              <a:lnSpc>
                <a:spcPct val="100000"/>
              </a:lnSpc>
              <a:spcBef>
                <a:spcPct val="0"/>
              </a:spcBef>
              <a:spcAft>
                <a:spcPct val="0"/>
              </a:spcAft>
              <a:buNone/>
            </a:pPr>
            <a:endParaRPr kumimoji="0" lang="en-GB" altLang="en-CH" sz="2000" b="0" i="0" u="none" strike="noStrike" cap="none" normalizeH="0" baseline="0">
              <a:ln>
                <a:noFill/>
              </a:ln>
              <a:solidFill>
                <a:schemeClr val="tx1"/>
              </a:solidFill>
              <a:effectLst/>
            </a:endParaRPr>
          </a:p>
          <a:p>
            <a:pPr marL="0" indent="0" eaLnBrk="0" fontAlgn="base" hangingPunct="0">
              <a:lnSpc>
                <a:spcPct val="100000"/>
              </a:lnSpc>
              <a:spcBef>
                <a:spcPct val="0"/>
              </a:spcBef>
              <a:spcAft>
                <a:spcPct val="0"/>
              </a:spcAft>
              <a:buNone/>
            </a:pPr>
            <a:endParaRPr kumimoji="0" lang="en-CH" altLang="en-CH" sz="2000" b="0" i="0" u="none" strike="noStrike" cap="none" normalizeH="0" baseline="0">
              <a:ln>
                <a:noFill/>
              </a:ln>
              <a:solidFill>
                <a:schemeClr val="tx1"/>
              </a:solidFill>
              <a:effectLst/>
            </a:endParaRPr>
          </a:p>
        </p:txBody>
      </p:sp>
      <p:sp>
        <p:nvSpPr>
          <p:cNvPr id="3" name="Foliennummernplatzhalter 2">
            <a:extLst>
              <a:ext uri="{FF2B5EF4-FFF2-40B4-BE49-F238E27FC236}">
                <a16:creationId xmlns:a16="http://schemas.microsoft.com/office/drawing/2014/main" id="{00BE6B38-5E92-8E09-6B5E-BD79F900379A}"/>
              </a:ext>
            </a:extLst>
          </p:cNvPr>
          <p:cNvSpPr>
            <a:spLocks noGrp="1"/>
          </p:cNvSpPr>
          <p:nvPr>
            <p:ph type="sldNum" sz="quarter" idx="12"/>
          </p:nvPr>
        </p:nvSpPr>
        <p:spPr/>
        <p:txBody>
          <a:bodyPr/>
          <a:lstStyle/>
          <a:p>
            <a:fld id="{AD036ABA-2983-EA40-A0BC-E355E1F2A4C5}" type="slidenum">
              <a:rPr lang="de-CH" smtClean="0"/>
              <a:t>11</a:t>
            </a:fld>
            <a:endParaRPr lang="de-CH"/>
          </a:p>
        </p:txBody>
      </p:sp>
      <p:pic>
        <p:nvPicPr>
          <p:cNvPr id="7" name="Picture 6">
            <a:extLst>
              <a:ext uri="{FF2B5EF4-FFF2-40B4-BE49-F238E27FC236}">
                <a16:creationId xmlns:a16="http://schemas.microsoft.com/office/drawing/2014/main" id="{095059D8-FC0F-AFEB-7FB8-C51BA653F32D}"/>
              </a:ext>
            </a:extLst>
          </p:cNvPr>
          <p:cNvPicPr>
            <a:picLocks noChangeAspect="1"/>
          </p:cNvPicPr>
          <p:nvPr/>
        </p:nvPicPr>
        <p:blipFill>
          <a:blip r:embed="rId3"/>
          <a:stretch>
            <a:fillRect/>
          </a:stretch>
        </p:blipFill>
        <p:spPr>
          <a:xfrm>
            <a:off x="9264720" y="2916193"/>
            <a:ext cx="2733812" cy="2423593"/>
          </a:xfrm>
          <a:prstGeom prst="rect">
            <a:avLst/>
          </a:prstGeom>
        </p:spPr>
      </p:pic>
    </p:spTree>
    <p:extLst>
      <p:ext uri="{BB962C8B-B14F-4D97-AF65-F5344CB8AC3E}">
        <p14:creationId xmlns:p14="http://schemas.microsoft.com/office/powerpoint/2010/main" val="781409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AF072-1B6F-945B-456A-896626CB4B54}"/>
              </a:ext>
            </a:extLst>
          </p:cNvPr>
          <p:cNvSpPr>
            <a:spLocks noGrp="1"/>
          </p:cNvSpPr>
          <p:nvPr>
            <p:ph type="title"/>
          </p:nvPr>
        </p:nvSpPr>
        <p:spPr/>
        <p:txBody>
          <a:bodyPr/>
          <a:lstStyle/>
          <a:p>
            <a:r>
              <a:rPr lang="en-US"/>
              <a:t>Limitations &amp; Future Work</a:t>
            </a:r>
            <a:endParaRPr lang="en-CH"/>
          </a:p>
        </p:txBody>
      </p:sp>
      <p:sp>
        <p:nvSpPr>
          <p:cNvPr id="3" name="Content Placeholder 2">
            <a:extLst>
              <a:ext uri="{FF2B5EF4-FFF2-40B4-BE49-F238E27FC236}">
                <a16:creationId xmlns:a16="http://schemas.microsoft.com/office/drawing/2014/main" id="{663EE16B-E6CC-1FDC-BC0A-D3186239D05F}"/>
              </a:ext>
            </a:extLst>
          </p:cNvPr>
          <p:cNvSpPr>
            <a:spLocks noGrp="1"/>
          </p:cNvSpPr>
          <p:nvPr>
            <p:ph idx="1"/>
          </p:nvPr>
        </p:nvSpPr>
        <p:spPr/>
        <p:txBody>
          <a:bodyPr>
            <a:normAutofit lnSpcReduction="10000"/>
          </a:bodyPr>
          <a:lstStyle/>
          <a:p>
            <a:pPr marL="0" indent="0">
              <a:buNone/>
            </a:pPr>
            <a:r>
              <a:rPr lang="en-GB"/>
              <a:t>Limitations:</a:t>
            </a:r>
          </a:p>
          <a:p>
            <a:r>
              <a:rPr lang="en-GB"/>
              <a:t>Only two life stages</a:t>
            </a:r>
          </a:p>
          <a:p>
            <a:r>
              <a:rPr lang="en-GB"/>
              <a:t>Constant temperature</a:t>
            </a:r>
          </a:p>
          <a:p>
            <a:r>
              <a:rPr lang="en-GB"/>
              <a:t>Time availability</a:t>
            </a:r>
          </a:p>
          <a:p>
            <a:pPr marL="0" indent="0">
              <a:buNone/>
            </a:pPr>
            <a:endParaRPr lang="en-GB"/>
          </a:p>
          <a:p>
            <a:pPr marL="0" indent="0">
              <a:buNone/>
            </a:pPr>
            <a:r>
              <a:rPr lang="en-GB"/>
              <a:t>Future work:</a:t>
            </a:r>
          </a:p>
          <a:p>
            <a:r>
              <a:rPr lang="en-GB"/>
              <a:t>All life stages</a:t>
            </a:r>
          </a:p>
          <a:p>
            <a:r>
              <a:rPr lang="en-GB"/>
              <a:t>Fluctuation or extreme temperature regimes</a:t>
            </a:r>
          </a:p>
          <a:p>
            <a:r>
              <a:rPr lang="en-GB"/>
              <a:t>Add genetic diversity     </a:t>
            </a:r>
          </a:p>
          <a:p>
            <a:endParaRPr lang="en-GB"/>
          </a:p>
          <a:p>
            <a:pPr marL="0" indent="0">
              <a:buNone/>
            </a:pPr>
            <a:endParaRPr lang="en-GB"/>
          </a:p>
          <a:p>
            <a:pPr marL="0" indent="0">
              <a:buNone/>
            </a:pPr>
            <a:endParaRPr lang="en-CH"/>
          </a:p>
        </p:txBody>
      </p:sp>
      <p:sp>
        <p:nvSpPr>
          <p:cNvPr id="4" name="Foliennummernplatzhalter 3">
            <a:extLst>
              <a:ext uri="{FF2B5EF4-FFF2-40B4-BE49-F238E27FC236}">
                <a16:creationId xmlns:a16="http://schemas.microsoft.com/office/drawing/2014/main" id="{EBDF9D2B-54F9-EDD9-46A4-F4FE36C0D8EE}"/>
              </a:ext>
            </a:extLst>
          </p:cNvPr>
          <p:cNvSpPr>
            <a:spLocks noGrp="1"/>
          </p:cNvSpPr>
          <p:nvPr>
            <p:ph type="sldNum" sz="quarter" idx="12"/>
          </p:nvPr>
        </p:nvSpPr>
        <p:spPr/>
        <p:txBody>
          <a:bodyPr/>
          <a:lstStyle/>
          <a:p>
            <a:fld id="{AD036ABA-2983-EA40-A0BC-E355E1F2A4C5}" type="slidenum">
              <a:rPr lang="de-CH" smtClean="0"/>
              <a:t>12</a:t>
            </a:fld>
            <a:endParaRPr lang="de-CH"/>
          </a:p>
        </p:txBody>
      </p:sp>
      <p:pic>
        <p:nvPicPr>
          <p:cNvPr id="5" name="Picture 4" descr="Hoverflies | Life 4 Pollinators">
            <a:extLst>
              <a:ext uri="{FF2B5EF4-FFF2-40B4-BE49-F238E27FC236}">
                <a16:creationId xmlns:a16="http://schemas.microsoft.com/office/drawing/2014/main" id="{1D0ABB23-6F58-666E-B842-BBD31D422B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33" t="10409" r="8059"/>
          <a:stretch>
            <a:fillRect/>
          </a:stretch>
        </p:blipFill>
        <p:spPr bwMode="auto">
          <a:xfrm rot="18791718">
            <a:off x="8232589" y="1250507"/>
            <a:ext cx="1432854" cy="148911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Hoverflies | Life 4 Pollinators">
            <a:extLst>
              <a:ext uri="{FF2B5EF4-FFF2-40B4-BE49-F238E27FC236}">
                <a16:creationId xmlns:a16="http://schemas.microsoft.com/office/drawing/2014/main" id="{565136D9-00E4-1F70-F0BE-CF18057D7B6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33" t="10409" r="8059"/>
          <a:stretch>
            <a:fillRect/>
          </a:stretch>
        </p:blipFill>
        <p:spPr bwMode="auto">
          <a:xfrm rot="18791718">
            <a:off x="10167816" y="3971112"/>
            <a:ext cx="1432854" cy="1489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35657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5EFC3-24D2-7622-A561-5DED3F0C4CE4}"/>
              </a:ext>
            </a:extLst>
          </p:cNvPr>
          <p:cNvSpPr>
            <a:spLocks noGrp="1"/>
          </p:cNvSpPr>
          <p:nvPr>
            <p:ph type="title"/>
          </p:nvPr>
        </p:nvSpPr>
        <p:spPr/>
        <p:txBody>
          <a:bodyPr/>
          <a:lstStyle/>
          <a:p>
            <a:r>
              <a:rPr lang="en-US"/>
              <a:t>Summary &amp; Take-home Message</a:t>
            </a:r>
            <a:endParaRPr lang="en-CH"/>
          </a:p>
        </p:txBody>
      </p:sp>
      <p:sp>
        <p:nvSpPr>
          <p:cNvPr id="5" name="Rectangle 2">
            <a:extLst>
              <a:ext uri="{FF2B5EF4-FFF2-40B4-BE49-F238E27FC236}">
                <a16:creationId xmlns:a16="http://schemas.microsoft.com/office/drawing/2014/main" id="{1829CB0E-B419-492E-9AFD-94CA12218FF7}"/>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CH"/>
          </a:p>
        </p:txBody>
      </p:sp>
      <p:sp>
        <p:nvSpPr>
          <p:cNvPr id="3" name="Foliennummernplatzhalter 2">
            <a:extLst>
              <a:ext uri="{FF2B5EF4-FFF2-40B4-BE49-F238E27FC236}">
                <a16:creationId xmlns:a16="http://schemas.microsoft.com/office/drawing/2014/main" id="{DEB41631-0507-FD46-9403-F9CCC794666A}"/>
              </a:ext>
            </a:extLst>
          </p:cNvPr>
          <p:cNvSpPr>
            <a:spLocks noGrp="1"/>
          </p:cNvSpPr>
          <p:nvPr>
            <p:ph type="sldNum" sz="quarter" idx="12"/>
          </p:nvPr>
        </p:nvSpPr>
        <p:spPr/>
        <p:txBody>
          <a:bodyPr/>
          <a:lstStyle/>
          <a:p>
            <a:fld id="{AD036ABA-2983-EA40-A0BC-E355E1F2A4C5}" type="slidenum">
              <a:rPr lang="de-CH" smtClean="0"/>
              <a:t>13</a:t>
            </a:fld>
            <a:endParaRPr lang="de-CH"/>
          </a:p>
        </p:txBody>
      </p:sp>
      <p:sp>
        <p:nvSpPr>
          <p:cNvPr id="6" name="Inhaltsplatzhalter 5">
            <a:extLst>
              <a:ext uri="{FF2B5EF4-FFF2-40B4-BE49-F238E27FC236}">
                <a16:creationId xmlns:a16="http://schemas.microsoft.com/office/drawing/2014/main" id="{ADC4DB36-9545-E735-B365-DDB1A6907525}"/>
              </a:ext>
            </a:extLst>
          </p:cNvPr>
          <p:cNvSpPr>
            <a:spLocks noGrp="1"/>
          </p:cNvSpPr>
          <p:nvPr>
            <p:ph idx="1"/>
          </p:nvPr>
        </p:nvSpPr>
        <p:spPr>
          <a:xfrm>
            <a:off x="838200" y="1690688"/>
            <a:ext cx="10515600" cy="4351338"/>
          </a:xfrm>
        </p:spPr>
        <p:txBody>
          <a:bodyPr/>
          <a:lstStyle/>
          <a:p>
            <a:pPr>
              <a:lnSpc>
                <a:spcPct val="150000"/>
              </a:lnSpc>
            </a:pPr>
            <a:r>
              <a:rPr lang="de-CH" dirty="0"/>
              <a:t>Benificial muatation can rescue population from extinction under environment stress.</a:t>
            </a:r>
          </a:p>
          <a:p>
            <a:pPr>
              <a:lnSpc>
                <a:spcPct val="150000"/>
              </a:lnSpc>
            </a:pPr>
            <a:r>
              <a:rPr lang="de-CH" dirty="0"/>
              <a:t>Rescue depends more on fitness than on mutation rate alone.</a:t>
            </a:r>
          </a:p>
          <a:p>
            <a:pPr>
              <a:lnSpc>
                <a:spcPct val="150000"/>
              </a:lnSpc>
            </a:pPr>
            <a:r>
              <a:rPr lang="de-CH" dirty="0"/>
              <a:t>Life stage traits strongly influnce survival</a:t>
            </a:r>
          </a:p>
          <a:p>
            <a:pPr>
              <a:lnSpc>
                <a:spcPct val="150000"/>
              </a:lnSpc>
            </a:pPr>
            <a:r>
              <a:rPr lang="de-CH" dirty="0"/>
              <a:t>A similar refined model could be used for conservation approaches</a:t>
            </a:r>
          </a:p>
        </p:txBody>
      </p:sp>
      <p:pic>
        <p:nvPicPr>
          <p:cNvPr id="14" name="Picture 4" descr="Hoverflies | Life 4 Pollinators">
            <a:extLst>
              <a:ext uri="{FF2B5EF4-FFF2-40B4-BE49-F238E27FC236}">
                <a16:creationId xmlns:a16="http://schemas.microsoft.com/office/drawing/2014/main" id="{5871CCC2-7281-8A2F-0147-15551696A73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733" t="10409" r="8059"/>
          <a:stretch>
            <a:fillRect/>
          </a:stretch>
        </p:blipFill>
        <p:spPr bwMode="auto">
          <a:xfrm rot="18791718">
            <a:off x="10193029" y="4153733"/>
            <a:ext cx="1432854" cy="14891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822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38ACB1-AF41-0345-6D81-E40211A906DC}"/>
              </a:ext>
            </a:extLst>
          </p:cNvPr>
          <p:cNvSpPr>
            <a:spLocks noGrp="1"/>
          </p:cNvSpPr>
          <p:nvPr>
            <p:ph type="title"/>
          </p:nvPr>
        </p:nvSpPr>
        <p:spPr/>
        <p:txBody>
          <a:bodyPr/>
          <a:lstStyle/>
          <a:p>
            <a:r>
              <a:rPr lang="de-CH"/>
              <a:t>References</a:t>
            </a:r>
          </a:p>
        </p:txBody>
      </p:sp>
      <p:sp>
        <p:nvSpPr>
          <p:cNvPr id="3" name="Inhaltsplatzhalter 2">
            <a:extLst>
              <a:ext uri="{FF2B5EF4-FFF2-40B4-BE49-F238E27FC236}">
                <a16:creationId xmlns:a16="http://schemas.microsoft.com/office/drawing/2014/main" id="{E910427C-3A61-242A-2BE3-E55DBFDA4657}"/>
              </a:ext>
            </a:extLst>
          </p:cNvPr>
          <p:cNvSpPr>
            <a:spLocks noGrp="1"/>
          </p:cNvSpPr>
          <p:nvPr>
            <p:ph idx="1"/>
          </p:nvPr>
        </p:nvSpPr>
        <p:spPr/>
        <p:txBody>
          <a:bodyPr/>
          <a:lstStyle/>
          <a:p>
            <a:r>
              <a:rPr lang="de-CH" sz="2400" err="1"/>
              <a:t>Daňková</a:t>
            </a:r>
            <a:r>
              <a:rPr lang="de-CH" sz="2400"/>
              <a:t> K, Nicholas S, Nordström K. 2023 </a:t>
            </a:r>
            <a:r>
              <a:rPr lang="de-CH" sz="2400" err="1"/>
              <a:t>Temperature</a:t>
            </a:r>
            <a:r>
              <a:rPr lang="de-CH" sz="2400"/>
              <a:t> </a:t>
            </a:r>
            <a:r>
              <a:rPr lang="de-CH" sz="2400" err="1"/>
              <a:t>during</a:t>
            </a:r>
            <a:r>
              <a:rPr lang="de-CH" sz="2400"/>
              <a:t> </a:t>
            </a:r>
            <a:r>
              <a:rPr lang="de-CH" sz="2400" err="1"/>
              <a:t>pupal</a:t>
            </a:r>
            <a:r>
              <a:rPr lang="de-CH" sz="2400"/>
              <a:t> </a:t>
            </a:r>
            <a:r>
              <a:rPr lang="de-CH" sz="2400" err="1"/>
              <a:t>development</a:t>
            </a:r>
            <a:r>
              <a:rPr lang="de-CH" sz="2400"/>
              <a:t> </a:t>
            </a:r>
            <a:r>
              <a:rPr lang="de-CH" sz="2400" err="1"/>
              <a:t>affects</a:t>
            </a:r>
            <a:r>
              <a:rPr lang="de-CH" sz="2400"/>
              <a:t> </a:t>
            </a:r>
            <a:r>
              <a:rPr lang="de-CH" sz="2400" err="1"/>
              <a:t>hoverfly</a:t>
            </a:r>
            <a:r>
              <a:rPr lang="de-CH" sz="2400"/>
              <a:t> </a:t>
            </a:r>
            <a:r>
              <a:rPr lang="de-CH" sz="2400" err="1"/>
              <a:t>developmental</a:t>
            </a:r>
            <a:r>
              <a:rPr lang="de-CH" sz="2400"/>
              <a:t> time, adult </a:t>
            </a:r>
            <a:r>
              <a:rPr lang="de-CH" sz="2400" err="1"/>
              <a:t>life</a:t>
            </a:r>
            <a:r>
              <a:rPr lang="de-CH" sz="2400"/>
              <a:t> span, and </a:t>
            </a:r>
            <a:r>
              <a:rPr lang="de-CH" sz="2400" err="1"/>
              <a:t>wing</a:t>
            </a:r>
            <a:r>
              <a:rPr lang="de-CH" sz="2400"/>
              <a:t> </a:t>
            </a:r>
            <a:r>
              <a:rPr lang="de-CH" sz="2400" err="1"/>
              <a:t>length</a:t>
            </a:r>
            <a:r>
              <a:rPr lang="de-CH" sz="2400"/>
              <a:t>. Ecology and Evolution. </a:t>
            </a:r>
            <a:r>
              <a:rPr lang="de-DE" altLang="de-DE" sz="2400">
                <a:hlinkClick r:id="rId2">
                  <a:extLst>
                    <a:ext uri="{A12FA001-AC4F-418D-AE19-62706E023703}">
                      <ahyp:hlinkClr xmlns:ahyp="http://schemas.microsoft.com/office/drawing/2018/hyperlinkcolor" val="tx"/>
                    </a:ext>
                  </a:extLst>
                </a:hlinkClick>
              </a:rPr>
              <a:t>https://doi.org/10.1002/ece3.10516</a:t>
            </a:r>
            <a:endParaRPr lang="de-CH" sz="2400"/>
          </a:p>
          <a:p>
            <a:r>
              <a:rPr lang="de-CH" sz="2400"/>
              <a:t>Doyle T, Hawkes WLS, Massy R, </a:t>
            </a:r>
            <a:r>
              <a:rPr lang="de-CH" sz="2400" err="1"/>
              <a:t>Powney</a:t>
            </a:r>
            <a:r>
              <a:rPr lang="de-CH" sz="2400"/>
              <a:t> GD, Menz MHM, Wotton KR. 2020 </a:t>
            </a:r>
            <a:r>
              <a:rPr lang="de-CH" sz="2400" err="1"/>
              <a:t>Pollination</a:t>
            </a:r>
            <a:r>
              <a:rPr lang="de-CH" sz="2400"/>
              <a:t> </a:t>
            </a:r>
            <a:r>
              <a:rPr lang="de-CH" sz="2400" err="1"/>
              <a:t>by</a:t>
            </a:r>
            <a:r>
              <a:rPr lang="de-CH" sz="2400"/>
              <a:t> </a:t>
            </a:r>
            <a:r>
              <a:rPr lang="de-CH" sz="2400" err="1"/>
              <a:t>hoverflies</a:t>
            </a:r>
            <a:r>
              <a:rPr lang="de-CH" sz="2400"/>
              <a:t> in </a:t>
            </a:r>
            <a:r>
              <a:rPr lang="de-CH" sz="2400" err="1"/>
              <a:t>the</a:t>
            </a:r>
            <a:r>
              <a:rPr lang="de-CH" sz="2400"/>
              <a:t> </a:t>
            </a:r>
            <a:r>
              <a:rPr lang="de-CH" sz="2400" err="1"/>
              <a:t>Anthropocene</a:t>
            </a:r>
            <a:r>
              <a:rPr lang="de-CH" sz="2400"/>
              <a:t>. </a:t>
            </a:r>
            <a:r>
              <a:rPr lang="de-CH" sz="2400" err="1"/>
              <a:t>Proc</a:t>
            </a:r>
            <a:r>
              <a:rPr lang="de-CH" sz="2400"/>
              <a:t>. R. </a:t>
            </a:r>
            <a:r>
              <a:rPr lang="de-CH" sz="2400" err="1"/>
              <a:t>Soc</a:t>
            </a:r>
            <a:r>
              <a:rPr lang="de-CH" sz="2400"/>
              <a:t>. B 287: 20200508. http://</a:t>
            </a:r>
            <a:r>
              <a:rPr lang="de-CH" sz="2400" err="1"/>
              <a:t>dx.doi.org</a:t>
            </a:r>
            <a:r>
              <a:rPr lang="de-CH" sz="2400"/>
              <a:t>/10.1098/rspb.2020.0508 </a:t>
            </a:r>
          </a:p>
          <a:p>
            <a:r>
              <a:rPr lang="de-CH" sz="2400"/>
              <a:t>Heal J. 1988 Variation and </a:t>
            </a:r>
            <a:r>
              <a:rPr lang="de-CH" sz="2400" err="1"/>
              <a:t>seasonal</a:t>
            </a:r>
            <a:r>
              <a:rPr lang="de-CH" sz="2400"/>
              <a:t> </a:t>
            </a:r>
            <a:r>
              <a:rPr lang="de-CH" sz="2400" err="1"/>
              <a:t>changes</a:t>
            </a:r>
            <a:r>
              <a:rPr lang="de-CH" sz="2400"/>
              <a:t> in </a:t>
            </a:r>
            <a:r>
              <a:rPr lang="de-CH" sz="2400" err="1"/>
              <a:t>hoverfly</a:t>
            </a:r>
            <a:r>
              <a:rPr lang="de-CH" sz="2400"/>
              <a:t> </a:t>
            </a:r>
            <a:r>
              <a:rPr lang="de-CH" sz="2400" err="1"/>
              <a:t>species</a:t>
            </a:r>
            <a:r>
              <a:rPr lang="de-CH" sz="2400"/>
              <a:t>: </a:t>
            </a:r>
            <a:r>
              <a:rPr lang="de-CH" sz="2400" err="1"/>
              <a:t>interactions</a:t>
            </a:r>
            <a:r>
              <a:rPr lang="de-CH" sz="2400"/>
              <a:t> </a:t>
            </a:r>
            <a:r>
              <a:rPr lang="de-CH" sz="2400" err="1"/>
              <a:t>between</a:t>
            </a:r>
            <a:r>
              <a:rPr lang="de-CH" sz="2400"/>
              <a:t> </a:t>
            </a:r>
            <a:r>
              <a:rPr lang="de-CH" sz="2400" err="1"/>
              <a:t>temperature</a:t>
            </a:r>
            <a:r>
              <a:rPr lang="de-CH" sz="2400"/>
              <a:t> , </a:t>
            </a:r>
            <a:r>
              <a:rPr lang="de-CH" sz="2400" err="1"/>
              <a:t>age</a:t>
            </a:r>
            <a:r>
              <a:rPr lang="de-CH" sz="2400"/>
              <a:t> and </a:t>
            </a:r>
            <a:r>
              <a:rPr lang="de-CH" sz="2400" err="1"/>
              <a:t>genotype</a:t>
            </a:r>
            <a:r>
              <a:rPr lang="de-CH" sz="2400"/>
              <a:t> </a:t>
            </a:r>
          </a:p>
          <a:p>
            <a:endParaRPr lang="de-CH" sz="2400"/>
          </a:p>
          <a:p>
            <a:endParaRPr lang="de-CH"/>
          </a:p>
        </p:txBody>
      </p:sp>
      <p:sp>
        <p:nvSpPr>
          <p:cNvPr id="4" name="Foliennummernplatzhalter 3">
            <a:extLst>
              <a:ext uri="{FF2B5EF4-FFF2-40B4-BE49-F238E27FC236}">
                <a16:creationId xmlns:a16="http://schemas.microsoft.com/office/drawing/2014/main" id="{C8E40A45-BF42-378A-FB4E-AC4EC6E5187B}"/>
              </a:ext>
            </a:extLst>
          </p:cNvPr>
          <p:cNvSpPr>
            <a:spLocks noGrp="1"/>
          </p:cNvSpPr>
          <p:nvPr>
            <p:ph type="sldNum" sz="quarter" idx="12"/>
          </p:nvPr>
        </p:nvSpPr>
        <p:spPr/>
        <p:txBody>
          <a:bodyPr/>
          <a:lstStyle/>
          <a:p>
            <a:fld id="{AD036ABA-2983-EA40-A0BC-E355E1F2A4C5}" type="slidenum">
              <a:rPr lang="de-CH" smtClean="0"/>
              <a:t>14</a:t>
            </a:fld>
            <a:endParaRPr lang="de-CH"/>
          </a:p>
        </p:txBody>
      </p:sp>
      <p:sp>
        <p:nvSpPr>
          <p:cNvPr id="7" name="Rectangle 3">
            <a:extLst>
              <a:ext uri="{FF2B5EF4-FFF2-40B4-BE49-F238E27FC236}">
                <a16:creationId xmlns:a16="http://schemas.microsoft.com/office/drawing/2014/main" id="{C16BFFEB-E30A-7130-0387-6EFC86858C0D}"/>
              </a:ext>
            </a:extLst>
          </p:cNvPr>
          <p:cNvSpPr>
            <a:spLocks noChangeArrowheads="1"/>
          </p:cNvSpPr>
          <p:nvPr/>
        </p:nvSpPr>
        <p:spPr bwMode="auto">
          <a:xfrm>
            <a:off x="8050306" y="2584231"/>
            <a:ext cx="21833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de-DE" altLang="de-DE" sz="1000" b="0" i="0" u="none" strike="noStrike" cap="none" normalizeH="0" baseline="0">
                <a:ln>
                  <a:noFill/>
                </a:ln>
                <a:solidFill>
                  <a:srgbClr val="767676"/>
                </a:solidFill>
                <a:effectLst/>
                <a:latin typeface="Open Sans" panose="020B0606030504020204" pitchFamily="34" charset="0"/>
              </a:rPr>
              <a:t> </a:t>
            </a:r>
            <a:endParaRPr kumimoji="0" lang="de-DE" altLang="de-DE" sz="1000" b="0" i="0" u="none" strike="noStrike" cap="none" normalizeH="0" baseline="0">
              <a:ln>
                <a:noFill/>
              </a:ln>
              <a:solidFill>
                <a:schemeClr val="tx1"/>
              </a:solidFill>
              <a:effectLst/>
            </a:endParaRPr>
          </a:p>
        </p:txBody>
      </p:sp>
    </p:spTree>
    <p:extLst>
      <p:ext uri="{BB962C8B-B14F-4D97-AF65-F5344CB8AC3E}">
        <p14:creationId xmlns:p14="http://schemas.microsoft.com/office/powerpoint/2010/main" val="3611759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a:extLst>
              <a:ext uri="{FF2B5EF4-FFF2-40B4-BE49-F238E27FC236}">
                <a16:creationId xmlns:a16="http://schemas.microsoft.com/office/drawing/2014/main" id="{B9868805-2B4C-2FA6-50C5-A18A21FEE6FF}"/>
              </a:ext>
            </a:extLst>
          </p:cNvPr>
          <p:cNvSpPr>
            <a:spLocks noGrp="1"/>
          </p:cNvSpPr>
          <p:nvPr>
            <p:ph type="sldNum" sz="quarter" idx="12"/>
          </p:nvPr>
        </p:nvSpPr>
        <p:spPr/>
        <p:txBody>
          <a:bodyPr/>
          <a:lstStyle/>
          <a:p>
            <a:fld id="{AD036ABA-2983-EA40-A0BC-E355E1F2A4C5}" type="slidenum">
              <a:rPr lang="de-CH" smtClean="0"/>
              <a:t>15</a:t>
            </a:fld>
            <a:endParaRPr lang="de-CH"/>
          </a:p>
        </p:txBody>
      </p:sp>
      <p:pic>
        <p:nvPicPr>
          <p:cNvPr id="5" name="Content Placeholder 3" descr="A yellow and blue graph&#10;&#10;AI-generated content may be incorrect.">
            <a:extLst>
              <a:ext uri="{FF2B5EF4-FFF2-40B4-BE49-F238E27FC236}">
                <a16:creationId xmlns:a16="http://schemas.microsoft.com/office/drawing/2014/main" id="{F981954F-BCD2-75FA-9D99-0BB4698C08C0}"/>
              </a:ext>
            </a:extLst>
          </p:cNvPr>
          <p:cNvPicPr>
            <a:picLocks noChangeAspect="1"/>
          </p:cNvPicPr>
          <p:nvPr/>
        </p:nvPicPr>
        <p:blipFill>
          <a:blip r:embed="rId2"/>
          <a:stretch>
            <a:fillRect/>
          </a:stretch>
        </p:blipFill>
        <p:spPr>
          <a:xfrm>
            <a:off x="254000" y="411992"/>
            <a:ext cx="9281622" cy="4401064"/>
          </a:xfrm>
          <a:prstGeom prst="rect">
            <a:avLst/>
          </a:prstGeom>
        </p:spPr>
      </p:pic>
      <p:graphicFrame>
        <p:nvGraphicFramePr>
          <p:cNvPr id="6" name="Tabelle 8">
            <a:extLst>
              <a:ext uri="{FF2B5EF4-FFF2-40B4-BE49-F238E27FC236}">
                <a16:creationId xmlns:a16="http://schemas.microsoft.com/office/drawing/2014/main" id="{7BD20939-D136-356E-FAFE-7DA436308FF1}"/>
              </a:ext>
            </a:extLst>
          </p:cNvPr>
          <p:cNvGraphicFramePr>
            <a:graphicFrameLocks noGrp="1"/>
          </p:cNvGraphicFramePr>
          <p:nvPr>
            <p:extLst>
              <p:ext uri="{D42A27DB-BD31-4B8C-83A1-F6EECF244321}">
                <p14:modId xmlns:p14="http://schemas.microsoft.com/office/powerpoint/2010/main" val="886785363"/>
              </p:ext>
            </p:extLst>
          </p:nvPr>
        </p:nvGraphicFramePr>
        <p:xfrm>
          <a:off x="8198924" y="3634887"/>
          <a:ext cx="3253154" cy="2356338"/>
        </p:xfrm>
        <a:graphic>
          <a:graphicData uri="http://schemas.openxmlformats.org/drawingml/2006/table">
            <a:tbl>
              <a:tblPr firstRow="1" bandRow="1">
                <a:tableStyleId>{5940675A-B579-460E-94D1-54222C63F5DA}</a:tableStyleId>
              </a:tblPr>
              <a:tblGrid>
                <a:gridCol w="1371928">
                  <a:extLst>
                    <a:ext uri="{9D8B030D-6E8A-4147-A177-3AD203B41FA5}">
                      <a16:colId xmlns:a16="http://schemas.microsoft.com/office/drawing/2014/main" val="4025467776"/>
                    </a:ext>
                  </a:extLst>
                </a:gridCol>
                <a:gridCol w="978549">
                  <a:extLst>
                    <a:ext uri="{9D8B030D-6E8A-4147-A177-3AD203B41FA5}">
                      <a16:colId xmlns:a16="http://schemas.microsoft.com/office/drawing/2014/main" val="1183492622"/>
                    </a:ext>
                  </a:extLst>
                </a:gridCol>
                <a:gridCol w="902677">
                  <a:extLst>
                    <a:ext uri="{9D8B030D-6E8A-4147-A177-3AD203B41FA5}">
                      <a16:colId xmlns:a16="http://schemas.microsoft.com/office/drawing/2014/main" val="1226399433"/>
                    </a:ext>
                  </a:extLst>
                </a:gridCol>
              </a:tblGrid>
              <a:tr h="404446">
                <a:tc>
                  <a:txBody>
                    <a:bodyPr/>
                    <a:lstStyle/>
                    <a:p>
                      <a:r>
                        <a:rPr lang="de-CH" sz="1600"/>
                        <a:t>Parameters:</a:t>
                      </a:r>
                    </a:p>
                  </a:txBody>
                  <a:tcPr/>
                </a:tc>
                <a:tc>
                  <a:txBody>
                    <a:bodyPr/>
                    <a:lstStyle/>
                    <a:p>
                      <a:r>
                        <a:rPr lang="de-CH" sz="1600" err="1"/>
                        <a:t>wildtype</a:t>
                      </a:r>
                      <a:endParaRPr lang="de-CH" sz="1600"/>
                    </a:p>
                  </a:txBody>
                  <a:tcPr/>
                </a:tc>
                <a:tc>
                  <a:txBody>
                    <a:bodyPr/>
                    <a:lstStyle/>
                    <a:p>
                      <a:r>
                        <a:rPr lang="de-CH" sz="1600" err="1"/>
                        <a:t>mutant</a:t>
                      </a:r>
                      <a:endParaRPr lang="de-CH" sz="1600"/>
                    </a:p>
                  </a:txBody>
                  <a:tcPr/>
                </a:tc>
                <a:extLst>
                  <a:ext uri="{0D108BD9-81ED-4DB2-BD59-A6C34878D82A}">
                    <a16:rowId xmlns:a16="http://schemas.microsoft.com/office/drawing/2014/main" val="611400347"/>
                  </a:ext>
                </a:extLst>
              </a:tr>
              <a:tr h="388437">
                <a:tc>
                  <a:txBody>
                    <a:bodyPr/>
                    <a:lstStyle/>
                    <a:p>
                      <a:r>
                        <a:rPr lang="de-CH" sz="1600"/>
                        <a:t>initial </a:t>
                      </a:r>
                      <a:r>
                        <a:rPr lang="de-CH" sz="1600" err="1"/>
                        <a:t>pop</a:t>
                      </a:r>
                      <a:r>
                        <a:rPr lang="de-CH" sz="1600"/>
                        <a:t>.</a:t>
                      </a:r>
                    </a:p>
                  </a:txBody>
                  <a:tcPr/>
                </a:tc>
                <a:tc>
                  <a:txBody>
                    <a:bodyPr/>
                    <a:lstStyle/>
                    <a:p>
                      <a:r>
                        <a:rPr lang="de-CH" sz="1600"/>
                        <a:t>100</a:t>
                      </a:r>
                    </a:p>
                  </a:txBody>
                  <a:tcPr/>
                </a:tc>
                <a:tc>
                  <a:txBody>
                    <a:bodyPr/>
                    <a:lstStyle/>
                    <a:p>
                      <a:r>
                        <a:rPr lang="de-CH" sz="1600"/>
                        <a:t>50</a:t>
                      </a:r>
                    </a:p>
                  </a:txBody>
                  <a:tcPr/>
                </a:tc>
                <a:extLst>
                  <a:ext uri="{0D108BD9-81ED-4DB2-BD59-A6C34878D82A}">
                    <a16:rowId xmlns:a16="http://schemas.microsoft.com/office/drawing/2014/main" val="3946468305"/>
                  </a:ext>
                </a:extLst>
              </a:tr>
              <a:tr h="388437">
                <a:tc>
                  <a:txBody>
                    <a:bodyPr/>
                    <a:lstStyle/>
                    <a:p>
                      <a:r>
                        <a:rPr lang="de-CH" sz="1600" err="1"/>
                        <a:t>fecundity</a:t>
                      </a:r>
                      <a:endParaRPr lang="de-CH" sz="1600"/>
                    </a:p>
                  </a:txBody>
                  <a:tcPr/>
                </a:tc>
                <a:tc>
                  <a:txBody>
                    <a:bodyPr/>
                    <a:lstStyle/>
                    <a:p>
                      <a:r>
                        <a:rPr lang="de-CH" sz="1600"/>
                        <a:t>3</a:t>
                      </a:r>
                    </a:p>
                  </a:txBody>
                  <a:tcPr/>
                </a:tc>
                <a:tc>
                  <a:txBody>
                    <a:bodyPr/>
                    <a:lstStyle/>
                    <a:p>
                      <a:r>
                        <a:rPr lang="de-CH" sz="1600"/>
                        <a:t>0 - 10</a:t>
                      </a:r>
                    </a:p>
                  </a:txBody>
                  <a:tcPr/>
                </a:tc>
                <a:extLst>
                  <a:ext uri="{0D108BD9-81ED-4DB2-BD59-A6C34878D82A}">
                    <a16:rowId xmlns:a16="http://schemas.microsoft.com/office/drawing/2014/main" val="2287802074"/>
                  </a:ext>
                </a:extLst>
              </a:tr>
              <a:tr h="388437">
                <a:tc>
                  <a:txBody>
                    <a:bodyPr/>
                    <a:lstStyle/>
                    <a:p>
                      <a:r>
                        <a:rPr lang="de-CH" sz="1600" err="1"/>
                        <a:t>hatching</a:t>
                      </a:r>
                      <a:r>
                        <a:rPr lang="de-CH" sz="1600"/>
                        <a:t> rate</a:t>
                      </a:r>
                    </a:p>
                  </a:txBody>
                  <a:tcPr/>
                </a:tc>
                <a:tc>
                  <a:txBody>
                    <a:bodyPr/>
                    <a:lstStyle/>
                    <a:p>
                      <a:r>
                        <a:rPr lang="de-CH" sz="1600"/>
                        <a:t>0.5</a:t>
                      </a:r>
                    </a:p>
                  </a:txBody>
                  <a:tcPr/>
                </a:tc>
                <a:tc>
                  <a:txBody>
                    <a:bodyPr/>
                    <a:lstStyle/>
                    <a:p>
                      <a:r>
                        <a:rPr lang="de-CH" sz="1600"/>
                        <a:t>0 - 1</a:t>
                      </a:r>
                    </a:p>
                  </a:txBody>
                  <a:tcPr/>
                </a:tc>
                <a:extLst>
                  <a:ext uri="{0D108BD9-81ED-4DB2-BD59-A6C34878D82A}">
                    <a16:rowId xmlns:a16="http://schemas.microsoft.com/office/drawing/2014/main" val="890595372"/>
                  </a:ext>
                </a:extLst>
              </a:tr>
              <a:tr h="388437">
                <a:tc>
                  <a:txBody>
                    <a:bodyPr/>
                    <a:lstStyle/>
                    <a:p>
                      <a:r>
                        <a:rPr lang="de-CH" sz="1600" err="1"/>
                        <a:t>survival</a:t>
                      </a:r>
                      <a:r>
                        <a:rPr lang="de-CH" sz="1600"/>
                        <a:t> rate </a:t>
                      </a:r>
                    </a:p>
                  </a:txBody>
                  <a:tcPr/>
                </a:tc>
                <a:tc>
                  <a:txBody>
                    <a:bodyPr/>
                    <a:lstStyle/>
                    <a:p>
                      <a:r>
                        <a:rPr lang="de-CH" sz="1600"/>
                        <a:t>0.5</a:t>
                      </a:r>
                    </a:p>
                  </a:txBody>
                  <a:tcPr/>
                </a:tc>
                <a:tc>
                  <a:txBody>
                    <a:bodyPr/>
                    <a:lstStyle/>
                    <a:p>
                      <a:r>
                        <a:rPr lang="de-CH" sz="1600"/>
                        <a:t>0.5</a:t>
                      </a:r>
                    </a:p>
                  </a:txBody>
                  <a:tcPr/>
                </a:tc>
                <a:extLst>
                  <a:ext uri="{0D108BD9-81ED-4DB2-BD59-A6C34878D82A}">
                    <a16:rowId xmlns:a16="http://schemas.microsoft.com/office/drawing/2014/main" val="3665337699"/>
                  </a:ext>
                </a:extLst>
              </a:tr>
              <a:tr h="398144">
                <a:tc>
                  <a:txBody>
                    <a:bodyPr/>
                    <a:lstStyle/>
                    <a:p>
                      <a:r>
                        <a:rPr lang="de-CH" sz="1600" err="1"/>
                        <a:t>mutation</a:t>
                      </a:r>
                      <a:r>
                        <a:rPr lang="de-CH" sz="1600"/>
                        <a:t> rate</a:t>
                      </a:r>
                    </a:p>
                  </a:txBody>
                  <a:tcPr/>
                </a:tc>
                <a:tc gridSpan="2">
                  <a:txBody>
                    <a:bodyPr/>
                    <a:lstStyle/>
                    <a:p>
                      <a:r>
                        <a:rPr lang="de-CH" sz="1600"/>
                        <a:t>0.001</a:t>
                      </a:r>
                    </a:p>
                  </a:txBody>
                  <a:tcPr/>
                </a:tc>
                <a:tc hMerge="1">
                  <a:txBody>
                    <a:bodyPr/>
                    <a:lstStyle/>
                    <a:p>
                      <a:endParaRPr lang="de-CH"/>
                    </a:p>
                  </a:txBody>
                  <a:tcPr/>
                </a:tc>
                <a:extLst>
                  <a:ext uri="{0D108BD9-81ED-4DB2-BD59-A6C34878D82A}">
                    <a16:rowId xmlns:a16="http://schemas.microsoft.com/office/drawing/2014/main" val="2023240453"/>
                  </a:ext>
                </a:extLst>
              </a:tr>
            </a:tbl>
          </a:graphicData>
        </a:graphic>
      </p:graphicFrame>
    </p:spTree>
    <p:extLst>
      <p:ext uri="{BB962C8B-B14F-4D97-AF65-F5344CB8AC3E}">
        <p14:creationId xmlns:p14="http://schemas.microsoft.com/office/powerpoint/2010/main" val="1574578904"/>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d400387a-212f-43ea-ac7f-77aa12d7977e}" enabled="0" method="" siteId="{d400387a-212f-43ea-ac7f-77aa12d7977e}" removed="1"/>
</clbl:labelList>
</file>

<file path=docProps/app.xml><?xml version="1.0" encoding="utf-8"?>
<Properties xmlns="http://schemas.openxmlformats.org/officeDocument/2006/extended-properties" xmlns:vt="http://schemas.openxmlformats.org/officeDocument/2006/docPropsVTypes">
  <TotalTime>0</TotalTime>
  <Words>1204</Words>
  <Application>Microsoft Office PowerPoint</Application>
  <PresentationFormat>Widescreen</PresentationFormat>
  <Paragraphs>240</Paragraphs>
  <Slides>16</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Open Sans</vt:lpstr>
      <vt:lpstr>Wingdings</vt:lpstr>
      <vt:lpstr>Office</vt:lpstr>
      <vt:lpstr>Project Hoverfly</vt:lpstr>
      <vt:lpstr>Introduction</vt:lpstr>
      <vt:lpstr>PowerPoint Presentation</vt:lpstr>
      <vt:lpstr>Model species - Hoverfly</vt:lpstr>
      <vt:lpstr>Model Overview</vt:lpstr>
      <vt:lpstr>Modeling the Life Cycle</vt:lpstr>
      <vt:lpstr>PowerPoint Presentation</vt:lpstr>
      <vt:lpstr>Mutation Rate does not matter!</vt:lpstr>
      <vt:lpstr> </vt:lpstr>
      <vt:lpstr>Evolutionary Rescue Probability with Mutant hatching rate vs Mutant fecundity</vt:lpstr>
      <vt:lpstr>Evolutionary Rescue vs Fecundity of Wildtype and Mutant (Number of round 200)</vt:lpstr>
      <vt:lpstr>Biological Interpretation</vt:lpstr>
      <vt:lpstr>Limitations &amp; Future Work</vt:lpstr>
      <vt:lpstr>Summary &amp; Take-home Message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Verdú Cruz, Sarai (STUDENTS)</dc:creator>
  <cp:lastModifiedBy>Meegamuwage, Charith Madushan Dharmasena (STUDENTS)</cp:lastModifiedBy>
  <cp:revision>1</cp:revision>
  <dcterms:created xsi:type="dcterms:W3CDTF">2025-10-28T08:04:19Z</dcterms:created>
  <dcterms:modified xsi:type="dcterms:W3CDTF">2025-11-02T19:27:13Z</dcterms:modified>
</cp:coreProperties>
</file>